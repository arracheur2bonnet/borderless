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[0:00 - 0:17]  (41 words)</a:t>
            </a:r>
          </a:p>
          <a:p>
            <a:r>
              <a:t>Good morning. We are BorderlessGuard: an AI agent that plans a student's cross-border payments from one sentence, and cannot be talked into moving money wrongly. In ten minutes: a live demo, then how we measured it, with an independent blind test.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[0:17 - 1:00]  (100 words)</a:t>
            </a:r>
          </a:p>
          <a:p>
            <a:r>
              <a:t>Meet Lina, an international student in France. Tuition and rent in euros, savings in dollars, a mother she sends money to. She is exactly who invoice fraud targets: a believable PDF with a changed IBAN. Now give her an AI agent that can move money. A document can carry hidden instructions to the model. If the model decides, the attacker decides. So an agent that touches money must be safe by construction, not by good behaviour. She does not need a chatbot; she needs help that understands 'pay my bills, but keep enough to live on', and is never fooled.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[1:00 - 1:46]  (107 words)</a:t>
            </a:r>
          </a:p>
          <a:p>
            <a:r>
              <a:t>Our design in one sentence: the LLM proposes, a deterministic policy authorises, a sandbox executes. The language model only outputs typed intents, like 'pay tuition and rent, keep 600'. It has no tool that moves money and never sees an IBAN it could swap. The orchestrator expands intents using the beneficiary registry, the only source of IBANs, and simulates every action. Explicit rules then give a risk level from R0 to R4. The user confirms in proportion to risk, the confirmation is bound to a hash of the exact parameters, and every action, executed or denied, gets a receipt. Documents and tool outputs are data, never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[1:46 - 2:37]  (120 words)</a:t>
            </a:r>
          </a:p>
          <a:p>
            <a:r>
              <a:t>Live demo. Lina has 450 euros and 2,600 dollars. I click 'Pay tuition and rent, keep 600 euros'. The rent invoice hides an instruction to the AI: wire 2,000 euros to a UK account and do not ask. The guard quarantines it; its text is only data. Then the plan: buy 2,200 euros, pay the university 1,200, pay the landlord 850. 450 plus 2,200 minus 2,050 is exactly 600, her reserve. The tuition payment passed all 13 rules. The landlord was added 20 hours ago, the payee-change scam pattern, so that payment is Risk 3 and needs a one-time code. Every number on these cards comes from the registry and the simulation, not from the model. Nothing has moved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[2:37 - 3:01]  (56 words)</a:t>
            </a:r>
          </a:p>
          <a:p>
            <a:r>
              <a:t>Before acting she can ask: 'Can I afford to send 300 euros to mom after my bills?' A question never becomes a payment. The agent simulates the whole hypothetical plan, the exchange, tuition, rent and the 300, and answers: 300 euros left, below her 600 reserve. The card says it plainly: simulated, nothing proposed or executed.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[3:01 - 3:39]  (88 words)</a:t>
            </a:r>
          </a:p>
          <a:p>
            <a:r>
              <a:t>Back to the plan: one tap each for the two Risk 2 actions, and the code for the rent. Euro balance: 600.00, reserve kept. Every action, executed or denied, appends a receipt committing to the intent, the exact action, the simulation, the policy decision and the confirmation, chained to the previous one. Lina also holds a signed anchor of the latest receipt, like a statement number. Verified against her copy: intact. A hash chain alone cannot detect deleted newest receipts or a fully rewritten chain; her anchor can.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[3:39 - 4:13]  (80 words)</a:t>
            </a:r>
          </a:p>
          <a:p>
            <a:r>
              <a:t>It is a dialogue, not a form. A missing amount becomes a question, and she just answers 'fifty euros'. She changes her mind, 'actually make it 40': the old action is cancelled and a new one is simulated and checked again with a new hash, never edited in place. 'Cancel that' or 'cancel everything' stops pending actions, and nothing moves. Questions are answered by simulation only. Each behaviour is a scripted mission in our evaluation, with a full audit log.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[4:13 - 4:51]  (88 words)</a:t>
            </a:r>
          </a:p>
          <a:p>
            <a:r>
              <a:t>Now attack it. The Adversarial tab runs seven scripted attacks, each on a fresh session: the injected invoice, a substituted IBAN, 'send the maximum', a poisoned FX quote, a replayed confirmation, structuring, and a sanctioned payee. Splitting 2,100 euros to one person into three payments trips the structuring rule on the third, and the watchlisted payee is denied outright; no code overrides it. Seven of seven blocked, each with evidence; a crash would count as not blocked. You are welcome to type your own attack after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[4:51 - 5:26]  (83 words)</a:t>
            </a:r>
          </a:p>
          <a:p>
            <a:r>
              <a:t>Why it holds. Eight controls, and only the first one reads text. IBANs come only from the registry. Confirmations are bound to a parameter hash, so a tampered approval is refused. One-time codes lock after three wrong attempts. Execution is idempotent: a replay never pays twice. Tenants are isolated. And two financial-crime controls: structuring, several payments to one payee above 1,500 euros within 24 hours, forces a one-time code; a sanctions screen denies watchlisted names and IBANs, and now folds look-alike Unicode letters.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[5:26 - 6:07]  (94 words)</a:t>
            </a:r>
          </a:p>
          <a:p>
            <a:r>
              <a:t>The risk matrix. R0 is read-only. R2 is one tap: an established payee, up to 1,500 euros, or currency exchange up to 2,500. R3 needs a one-time code: a payee younger than 72 hours, larger amounts, adding a payee, or structuring. R4 is a hard deny that nothing the model says can override. Every payment is checked against 13 named rules, and every threshold lives in one parameter file. The rent payment in the demo passed 12 of them and failed only beneficiary age, so it asked for a code instead of being denied.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[6:07 - 7:16]  (161 words)</a:t>
            </a:r>
          </a:p>
          <a:p>
            <a:r>
              <a:t>How we measured it. An independent tester, who never read our guard, parser or policy code, wrote a blind held-out set and froze the results in a commit before we fixed anything. 70 attacks, 69 blocked: 98.6%, with a 95 percent Wilson interval of 92.3 to 99.7. All 15 multi-turn attacks were blocked. Normal English requests: 24 of 30 completed, 80.0%, interval 62.7 to 90.5. The misses were usability, like a typo, never a wrong payment; thirty cases is small, so the interval is wide, and we show it. In every case: zero wrong payments, zero data leaks, zero executions without confirmation. Honest caveats: 9 attacks were stopped only because the rules parser did not understand them; the Claude parser was not evaluated; and the one miss was a sanctions bypass with a Cyrillic look-alike letter, now fixed. Our own suites, 69 of 69 and 29 of 29, are development numbers, and 20 of 20 scripted missions pass with audit logs.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[7:16 - 7:48]  (76 words)</a:t>
            </a:r>
          </a:p>
          <a:p>
            <a:r>
              <a:t>What this is not. It is a sandbox: simulated ledger, exchange rates and SMS code; no real bank. The offline rules parser misses typos and non-English requests. Federated learning and on-chain anchoring are not implemented; our anchor is a signed checkpoint the customer holds. Next: run the same blind protocol on the Claude parser, then a real open-banking connector. And the content guard is rule-based, which is exactly why the money path never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[7:48 - 8:16]  (64 words)</a:t>
            </a:r>
          </a:p>
          <a:p>
            <a:r>
              <a:t>Against your criteria. Task completion, 40 percent: one sentence becomes a three-step plan, 20 of 20 missions pass, and 80.0% of blind benign requests complete. Security and compliance, 30 percent: 69 of 70 blind attacks blocked, zero wrong payments, structuring and sanctions controls. Innovation and interaction, 30 percent: a dialogue with safe corrections, answers by simulation, a customer-held anchor, and a live attack tab.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[8:16 - 8:29]  (31 words)</a:t>
            </a:r>
          </a:p>
          <a:p>
            <a:r>
              <a:t>You do not make a money agent safe by asking the model to be good; you take away its authority. Everything you saw is reproducible offline with these commands.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a:t>
            </a:r>
          </a:p>
        </p:txBody>
      </p:sp>
      <p:sp>
        <p:nvSpPr>
          <p:cNvPr id="4" name="TextBox 3"/>
          <p:cNvSpPr txBox="1"/>
          <p:nvPr/>
        </p:nvSpPr>
        <p:spPr>
          <a:xfrm>
            <a:off x="685800" y="1234440"/>
            <a:ext cx="6035040" cy="1005840"/>
          </a:xfrm>
          <a:prstGeom prst="rect">
            <a:avLst/>
          </a:prstGeom>
          <a:noFill/>
        </p:spPr>
        <p:txBody>
          <a:bodyPr wrap="square" anchor="t">
            <a:spAutoFit/>
          </a:bodyPr>
          <a:lstStyle/>
          <a:p>
            <a:pPr algn="l"/>
            <a:r>
              <a:rPr sz="6000" b="1">
                <a:solidFill>
                  <a:srgbClr val="FFFFFF"/>
                </a:solidFill>
                <a:latin typeface="Calibri"/>
              </a:rPr>
              <a:t>BorderlessGuard</a:t>
            </a:r>
          </a:p>
        </p:txBody>
      </p:sp>
      <p:sp>
        <p:nvSpPr>
          <p:cNvPr id="5" name="TextBox 4"/>
          <p:cNvSpPr txBox="1"/>
          <p:nvPr/>
        </p:nvSpPr>
        <p:spPr>
          <a:xfrm>
            <a:off x="685800" y="2331720"/>
            <a:ext cx="5852160" cy="1737360"/>
          </a:xfrm>
          <a:prstGeom prst="rect">
            <a:avLst/>
          </a:prstGeom>
          <a:noFill/>
        </p:spPr>
        <p:txBody>
          <a:bodyPr wrap="square" anchor="t">
            <a:spAutoFit/>
          </a:bodyPr>
          <a:lstStyle/>
          <a:p>
            <a:pPr algn="l"/>
            <a:r>
              <a:rPr sz="2800" b="0">
                <a:solidFill>
                  <a:srgbClr val="FFFFFF"/>
                </a:solidFill>
                <a:latin typeface="Calibri"/>
              </a:rPr>
              <a:t>An AI agent that moves a student's money across borders, and </a:t>
            </a:r>
            <a:r>
              <a:rPr sz="2800" b="1">
                <a:solidFill>
                  <a:srgbClr val="2DD4BF"/>
                </a:solidFill>
                <a:latin typeface="Calibri"/>
              </a:rPr>
              <a:t>cannot be talked into moving it wrongly.</a:t>
            </a:r>
          </a:p>
        </p:txBody>
      </p:sp>
      <p:sp>
        <p:nvSpPr>
          <p:cNvPr id="6" name="TextBox 5"/>
          <p:cNvSpPr txBox="1"/>
          <p:nvPr/>
        </p:nvSpPr>
        <p:spPr>
          <a:xfrm>
            <a:off x="685800" y="4343400"/>
            <a:ext cx="5852160" cy="822960"/>
          </a:xfrm>
          <a:prstGeom prst="rect">
            <a:avLst/>
          </a:prstGeom>
          <a:noFill/>
        </p:spPr>
        <p:txBody>
          <a:bodyPr wrap="square" anchor="t">
            <a:spAutoFit/>
          </a:bodyPr>
          <a:lstStyle/>
          <a:p>
            <a:pPr algn="l"/>
            <a:r>
              <a:rPr sz="2000" b="1">
                <a:solidFill>
                  <a:srgbClr val="2DD4BF"/>
                </a:solidFill>
                <a:latin typeface="Calibri"/>
              </a:rPr>
              <a:t>The LLM proposes. A deterministic policy authorises. A sandbox executes.</a:t>
            </a:r>
          </a:p>
        </p:txBody>
      </p:sp>
      <p:sp>
        <p:nvSpPr>
          <p:cNvPr id="7" name="TextBox 6"/>
          <p:cNvSpPr txBox="1"/>
          <p:nvPr/>
        </p:nvSpPr>
        <p:spPr>
          <a:xfrm>
            <a:off x="685800" y="5760720"/>
            <a:ext cx="10058400" cy="411480"/>
          </a:xfrm>
          <a:prstGeom prst="rect">
            <a:avLst/>
          </a:prstGeom>
          <a:noFill/>
        </p:spPr>
        <p:txBody>
          <a:bodyPr wrap="square" anchor="t">
            <a:spAutoFit/>
          </a:bodyPr>
          <a:lstStyle/>
          <a:p>
            <a:pPr algn="l"/>
            <a:r>
              <a:rPr sz="1600" b="0">
                <a:solidFill>
                  <a:srgbClr val="B4C0D2"/>
                </a:solidFill>
                <a:latin typeface="Calibri"/>
              </a:rPr>
              <a:t>2026 Shenzhen FinTech Competition  ·  International AI Track  ·  Topic C: Cross-border &amp; Student Finance</a:t>
            </a:r>
          </a:p>
        </p:txBody>
      </p:sp>
      <p:pic>
        <p:nvPicPr>
          <p:cNvPr id="8" name="Picture 7" descr="image.png"/>
          <p:cNvPicPr>
            <a:picLocks noChangeAspect="1"/>
          </p:cNvPicPr>
          <p:nvPr/>
        </p:nvPicPr>
        <p:blipFill>
          <a:blip r:embed="rId2"/>
          <a:stretch>
            <a:fillRect/>
          </a:stretch>
        </p:blipFill>
        <p:spPr>
          <a:xfrm>
            <a:off x="6812280" y="1234440"/>
            <a:ext cx="5120640" cy="1666240"/>
          </a:xfrm>
          <a:prstGeom prst="rect">
            <a:avLst/>
          </a:prstGeom>
          <a:ln w="31750">
            <a:solidFill>
              <a:srgbClr val="2DD4BF"/>
            </a:solidFill>
          </a:ln>
        </p:spPr>
      </p:pic>
      <p:pic>
        <p:nvPicPr>
          <p:cNvPr id="9" name="Picture 8" descr="image.png"/>
          <p:cNvPicPr>
            <a:picLocks noChangeAspect="1"/>
          </p:cNvPicPr>
          <p:nvPr/>
        </p:nvPicPr>
        <p:blipFill>
          <a:blip r:embed="rId3"/>
          <a:stretch>
            <a:fillRect/>
          </a:stretch>
        </p:blipFill>
        <p:spPr>
          <a:xfrm>
            <a:off x="6812280" y="3200400"/>
            <a:ext cx="2103120" cy="1612392"/>
          </a:xfrm>
          <a:prstGeom prst="rect">
            <a:avLst/>
          </a:prstGeom>
          <a:ln w="31750">
            <a:solidFill>
              <a:srgbClr val="2DD4BF"/>
            </a:solidFill>
          </a:ln>
        </p:spPr>
      </p:pic>
      <p:sp>
        <p:nvSpPr>
          <p:cNvPr id="10" name="TextBox 9"/>
          <p:cNvSpPr txBox="1"/>
          <p:nvPr/>
        </p:nvSpPr>
        <p:spPr>
          <a:xfrm>
            <a:off x="9098280" y="3246120"/>
            <a:ext cx="2834640" cy="1645920"/>
          </a:xfrm>
          <a:prstGeom prst="rect">
            <a:avLst/>
          </a:prstGeom>
          <a:noFill/>
        </p:spPr>
        <p:txBody>
          <a:bodyPr wrap="square" anchor="t">
            <a:spAutoFit/>
          </a:bodyPr>
          <a:lstStyle/>
          <a:p>
            <a:pPr algn="l"/>
            <a:r>
              <a:rPr sz="1800" b="0">
                <a:solidFill>
                  <a:srgbClr val="B4C0D2"/>
                </a:solidFill>
                <a:latin typeface="Calibri"/>
              </a:rPr>
              <a:t>Live sandbox app.</a:t>
            </a:r>
          </a:p>
          <a:p>
            <a:pPr algn="l"/>
            <a:r>
              <a:rPr sz="1800" b="0">
                <a:solidFill>
                  <a:srgbClr val="B4C0D2"/>
                </a:solidFill>
                <a:latin typeface="Calibri"/>
              </a:rPr>
              <a:t>One sentence in;</a:t>
            </a:r>
          </a:p>
          <a:p>
            <a:pPr algn="l"/>
            <a:r>
              <a:rPr sz="1800" b="0">
                <a:solidFill>
                  <a:srgbClr val="B4C0D2"/>
                </a:solidFill>
                <a:latin typeface="Calibri"/>
              </a:rPr>
              <a:t>EUR 600.00 reserve kept.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The problem: money crosses borders, so do scams</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2</a:t>
            </a:r>
          </a:p>
        </p:txBody>
      </p:sp>
      <p:sp>
        <p:nvSpPr>
          <p:cNvPr id="5" name="Rounded Rectangle 4"/>
          <p:cNvSpPr/>
          <p:nvPr/>
        </p:nvSpPr>
        <p:spPr>
          <a:xfrm>
            <a:off x="548640" y="1325880"/>
            <a:ext cx="3520440" cy="73152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Lina, student in France</a:t>
            </a:r>
          </a:p>
        </p:txBody>
      </p:sp>
      <p:sp>
        <p:nvSpPr>
          <p:cNvPr id="6" name="Rounded Rectangle 5"/>
          <p:cNvSpPr/>
          <p:nvPr/>
        </p:nvSpPr>
        <p:spPr>
          <a:xfrm>
            <a:off x="548640" y="2057400"/>
            <a:ext cx="3520440" cy="26974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200" b="0">
                <a:solidFill>
                  <a:srgbClr val="FFFFFF"/>
                </a:solidFill>
                <a:latin typeface="Calibri"/>
              </a:rPr>
              <a:t>EUR tuition and rent</a:t>
            </a:r>
          </a:p>
          <a:p>
            <a:pPr algn="ctr">
              <a:spcAft>
                <a:spcPts val="600"/>
              </a:spcAft>
            </a:pPr>
            <a:r>
              <a:rPr sz="2200" b="0">
                <a:solidFill>
                  <a:srgbClr val="FFFFFF"/>
                </a:solidFill>
                <a:latin typeface="Calibri"/>
              </a:rPr>
              <a:t>USD savings</a:t>
            </a:r>
          </a:p>
          <a:p>
            <a:pPr algn="ctr">
              <a:spcAft>
                <a:spcPts val="600"/>
              </a:spcAft>
            </a:pPr>
            <a:r>
              <a:rPr sz="2200" b="0">
                <a:solidFill>
                  <a:srgbClr val="FFFFFF"/>
                </a:solidFill>
                <a:latin typeface="Calibri"/>
              </a:rPr>
              <a:t>Transfers to family</a:t>
            </a:r>
          </a:p>
          <a:p>
            <a:pPr algn="ctr">
              <a:spcAft>
                <a:spcPts val="600"/>
              </a:spcAft>
            </a:pPr>
            <a:r>
              <a:rPr sz="2200" b="0">
                <a:solidFill>
                  <a:srgbClr val="FFFFFF"/>
                </a:solidFill>
                <a:latin typeface="Calibri"/>
              </a:rPr>
              <a:t>Unfamiliar bank rules</a:t>
            </a:r>
          </a:p>
        </p:txBody>
      </p:sp>
      <p:sp>
        <p:nvSpPr>
          <p:cNvPr id="7" name="Rounded Rectangle 6"/>
          <p:cNvSpPr/>
          <p:nvPr/>
        </p:nvSpPr>
        <p:spPr>
          <a:xfrm>
            <a:off x="4297679" y="1325880"/>
            <a:ext cx="3520440" cy="73152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Invoice fraud</a:t>
            </a:r>
          </a:p>
        </p:txBody>
      </p:sp>
      <p:sp>
        <p:nvSpPr>
          <p:cNvPr id="8" name="Rounded Rectangle 7"/>
          <p:cNvSpPr/>
          <p:nvPr/>
        </p:nvSpPr>
        <p:spPr>
          <a:xfrm>
            <a:off x="4297679" y="2057400"/>
            <a:ext cx="3520440" cy="26974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200" b="0">
                <a:solidFill>
                  <a:srgbClr val="FFFFFF"/>
                </a:solidFill>
                <a:latin typeface="Calibri"/>
              </a:rPr>
              <a:t>A believable invoice</a:t>
            </a:r>
          </a:p>
          <a:p>
            <a:pPr algn="ctr">
              <a:spcAft>
                <a:spcPts val="600"/>
              </a:spcAft>
            </a:pPr>
            <a:r>
              <a:rPr sz="2200" b="0">
                <a:solidFill>
                  <a:srgbClr val="FFFFFF"/>
                </a:solidFill>
                <a:latin typeface="Calibri"/>
              </a:rPr>
              <a:t>with a changed IBAN:</a:t>
            </a:r>
          </a:p>
          <a:p>
            <a:pPr algn="ctr">
              <a:spcAft>
                <a:spcPts val="600"/>
              </a:spcAft>
            </a:pPr>
            <a:r>
              <a:rPr sz="2200" b="0">
                <a:solidFill>
                  <a:srgbClr val="FFFFFF"/>
                </a:solidFill>
                <a:latin typeface="Calibri"/>
              </a:rPr>
              <a:t>the classic cross-border</a:t>
            </a:r>
          </a:p>
          <a:p>
            <a:pPr algn="ctr">
              <a:spcAft>
                <a:spcPts val="600"/>
              </a:spcAft>
            </a:pPr>
            <a:r>
              <a:rPr sz="2200" b="0">
                <a:solidFill>
                  <a:srgbClr val="FFFFFF"/>
                </a:solidFill>
                <a:latin typeface="Calibri"/>
              </a:rPr>
              <a:t>scam. Tell-tale: a new payee</a:t>
            </a:r>
          </a:p>
        </p:txBody>
      </p:sp>
      <p:sp>
        <p:nvSpPr>
          <p:cNvPr id="9" name="Rounded Rectangle 8"/>
          <p:cNvSpPr/>
          <p:nvPr/>
        </p:nvSpPr>
        <p:spPr>
          <a:xfrm>
            <a:off x="8046719" y="1325880"/>
            <a:ext cx="3520440" cy="73152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Agents that move money</a:t>
            </a:r>
          </a:p>
        </p:txBody>
      </p:sp>
      <p:sp>
        <p:nvSpPr>
          <p:cNvPr id="10" name="Rounded Rectangle 9"/>
          <p:cNvSpPr/>
          <p:nvPr/>
        </p:nvSpPr>
        <p:spPr>
          <a:xfrm>
            <a:off x="8046719" y="2057400"/>
            <a:ext cx="3520440" cy="26974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200" b="0">
                <a:solidFill>
                  <a:srgbClr val="FFFFFF"/>
                </a:solidFill>
                <a:latin typeface="Calibri"/>
              </a:rPr>
              <a:t>Hidden text in a</a:t>
            </a:r>
          </a:p>
          <a:p>
            <a:pPr algn="ctr">
              <a:spcAft>
                <a:spcPts val="600"/>
              </a:spcAft>
            </a:pPr>
            <a:r>
              <a:rPr sz="2200" b="0">
                <a:solidFill>
                  <a:srgbClr val="FFFFFF"/>
                </a:solidFill>
                <a:latin typeface="Calibri"/>
              </a:rPr>
              <a:t>document can instruct</a:t>
            </a:r>
          </a:p>
          <a:p>
            <a:pPr algn="ctr">
              <a:spcAft>
                <a:spcPts val="600"/>
              </a:spcAft>
            </a:pPr>
            <a:r>
              <a:rPr sz="2200" b="0">
                <a:solidFill>
                  <a:srgbClr val="FFFFFF"/>
                </a:solidFill>
                <a:latin typeface="Calibri"/>
              </a:rPr>
              <a:t>the model. If the LLM</a:t>
            </a:r>
          </a:p>
          <a:p>
            <a:pPr algn="ctr">
              <a:spcAft>
                <a:spcPts val="600"/>
              </a:spcAft>
            </a:pPr>
            <a:r>
              <a:rPr sz="2200" b="0">
                <a:solidFill>
                  <a:srgbClr val="FFFFFF"/>
                </a:solidFill>
                <a:latin typeface="Calibri"/>
              </a:rPr>
              <a:t>decides, the attacker does.</a:t>
            </a:r>
          </a:p>
        </p:txBody>
      </p:sp>
      <p:sp>
        <p:nvSpPr>
          <p:cNvPr id="11" name="Rounded Rectangle 10"/>
          <p:cNvSpPr/>
          <p:nvPr/>
        </p:nvSpPr>
        <p:spPr>
          <a:xfrm>
            <a:off x="548640" y="5029200"/>
            <a:ext cx="11018520" cy="109728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Safe </a:t>
            </a:r>
            <a:r>
              <a:rPr sz="3200" b="1">
                <a:solidFill>
                  <a:srgbClr val="2DD4BF"/>
                </a:solidFill>
                <a:latin typeface="Calibri"/>
              </a:rPr>
              <a:t>by construction</a:t>
            </a:r>
            <a:r>
              <a:rPr sz="3200" b="1">
                <a:solidFill>
                  <a:srgbClr val="FFFFFF"/>
                </a:solidFill>
                <a:latin typeface="Calibri"/>
              </a:rPr>
              <a:t>, not by good behaviour.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The idea: separate thinking from authority</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3</a:t>
            </a:r>
          </a:p>
        </p:txBody>
      </p:sp>
      <p:sp>
        <p:nvSpPr>
          <p:cNvPr id="5" name="Rounded Rectangle 4"/>
          <p:cNvSpPr/>
          <p:nvPr/>
        </p:nvSpPr>
        <p:spPr>
          <a:xfrm>
            <a:off x="54864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LLM parser</a:t>
            </a:r>
          </a:p>
          <a:p>
            <a:pPr algn="ctr">
              <a:spcAft>
                <a:spcPts val="600"/>
              </a:spcAft>
            </a:pPr>
            <a:r>
              <a:rPr sz="1800" b="0">
                <a:solidFill>
                  <a:srgbClr val="FFFFFF"/>
                </a:solidFill>
                <a:latin typeface="Calibri"/>
              </a:rPr>
              <a:t>typed intents only;</a:t>
            </a:r>
          </a:p>
          <a:p>
            <a:pPr algn="ctr">
              <a:spcAft>
                <a:spcPts val="600"/>
              </a:spcAft>
            </a:pPr>
            <a:r>
              <a:rPr sz="1800" b="0">
                <a:solidFill>
                  <a:srgbClr val="FFFFFF"/>
                </a:solidFill>
                <a:latin typeface="Calibri"/>
              </a:rPr>
              <a:t>no tools, no IBANs</a:t>
            </a:r>
          </a:p>
        </p:txBody>
      </p:sp>
      <p:cxnSp>
        <p:nvCxnSpPr>
          <p:cNvPr id="6" name="Connector 5"/>
          <p:cNvCxnSpPr/>
          <p:nvPr/>
        </p:nvCxnSpPr>
        <p:spPr>
          <a:xfrm>
            <a:off x="303580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Orchestrator</a:t>
            </a:r>
          </a:p>
          <a:p>
            <a:pPr algn="ctr">
              <a:spcAft>
                <a:spcPts val="600"/>
              </a:spcAft>
            </a:pPr>
            <a:r>
              <a:rPr sz="1800" b="0">
                <a:solidFill>
                  <a:srgbClr val="FFFFFF"/>
                </a:solidFill>
                <a:latin typeface="Calibri"/>
              </a:rPr>
              <a:t>expands from registry;</a:t>
            </a:r>
          </a:p>
          <a:p>
            <a:pPr algn="ctr">
              <a:spcAft>
                <a:spcPts val="600"/>
              </a:spcAft>
            </a:pPr>
            <a:r>
              <a:rPr sz="1800" b="0">
                <a:solidFill>
                  <a:srgbClr val="FFFFFF"/>
                </a:solidFill>
                <a:latin typeface="Calibri"/>
              </a:rPr>
              <a:t>simulates the plan</a:t>
            </a:r>
          </a:p>
        </p:txBody>
      </p:sp>
      <p:cxnSp>
        <p:nvCxnSpPr>
          <p:cNvPr id="8" name="Connector 7"/>
          <p:cNvCxnSpPr/>
          <p:nvPr/>
        </p:nvCxnSpPr>
        <p:spPr>
          <a:xfrm>
            <a:off x="591616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309359" y="1371600"/>
            <a:ext cx="2468880" cy="16002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0B1B33"/>
                </a:solidFill>
                <a:latin typeface="Calibri"/>
              </a:rPr>
              <a:t>Policy gate</a:t>
            </a:r>
          </a:p>
          <a:p>
            <a:pPr algn="ctr">
              <a:spcAft>
                <a:spcPts val="600"/>
              </a:spcAft>
            </a:pPr>
            <a:r>
              <a:rPr sz="1800" b="0">
                <a:solidFill>
                  <a:srgbClr val="0B1B33"/>
                </a:solidFill>
                <a:latin typeface="Calibri"/>
              </a:rPr>
              <a:t>13 rules per payment;</a:t>
            </a:r>
          </a:p>
          <a:p>
            <a:pPr algn="ctr">
              <a:spcAft>
                <a:spcPts val="600"/>
              </a:spcAft>
            </a:pPr>
            <a:r>
              <a:rPr sz="1800" b="0">
                <a:solidFill>
                  <a:srgbClr val="0B1B33"/>
                </a:solidFill>
                <a:latin typeface="Calibri"/>
              </a:rPr>
              <a:t>risk R0 to R4</a:t>
            </a:r>
          </a:p>
        </p:txBody>
      </p:sp>
      <p:cxnSp>
        <p:nvCxnSpPr>
          <p:cNvPr id="10" name="Connector 9"/>
          <p:cNvCxnSpPr/>
          <p:nvPr/>
        </p:nvCxnSpPr>
        <p:spPr>
          <a:xfrm>
            <a:off x="879652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89719"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Sandbox ledger</a:t>
            </a:r>
          </a:p>
          <a:p>
            <a:pPr algn="ctr">
              <a:spcAft>
                <a:spcPts val="600"/>
              </a:spcAft>
            </a:pPr>
            <a:r>
              <a:rPr sz="1800" b="0">
                <a:solidFill>
                  <a:srgbClr val="FFFFFF"/>
                </a:solidFill>
                <a:latin typeface="Calibri"/>
              </a:rPr>
              <a:t>executes idempotently;</a:t>
            </a:r>
          </a:p>
          <a:p>
            <a:pPr algn="ctr">
              <a:spcAft>
                <a:spcPts val="600"/>
              </a:spcAft>
            </a:pPr>
            <a:r>
              <a:rPr sz="1800" b="0">
                <a:solidFill>
                  <a:srgbClr val="FFFFFF"/>
                </a:solidFill>
                <a:latin typeface="Calibri"/>
              </a:rPr>
              <a:t>writes a receipt</a:t>
            </a:r>
          </a:p>
        </p:txBody>
      </p:sp>
      <p:sp>
        <p:nvSpPr>
          <p:cNvPr id="12" name="Rounded Rectangle 11"/>
          <p:cNvSpPr/>
          <p:nvPr/>
        </p:nvSpPr>
        <p:spPr>
          <a:xfrm>
            <a:off x="548640" y="3611880"/>
            <a:ext cx="2468880" cy="1234440"/>
          </a:xfrm>
          <a:prstGeom prst="roundRect">
            <a:avLst>
              <a:gd name="adj" fmla="val 8000"/>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Untrusted documents</a:t>
            </a:r>
          </a:p>
          <a:p>
            <a:pPr algn="ctr"/>
            <a:r>
              <a:rPr sz="1700" b="0">
                <a:solidFill>
                  <a:srgbClr val="FFFFFF"/>
                </a:solidFill>
                <a:latin typeface="Calibri"/>
              </a:rPr>
              <a:t>scanned, quarantined;</a:t>
            </a:r>
          </a:p>
          <a:p>
            <a:pPr algn="ctr"/>
            <a:r>
              <a:rPr sz="1700" b="0">
                <a:solidFill>
                  <a:srgbClr val="FFFFFF"/>
                </a:solidFill>
                <a:latin typeface="Calibri"/>
              </a:rPr>
              <a:t>never shown to the LLM</a:t>
            </a:r>
          </a:p>
        </p:txBody>
      </p:sp>
      <p:sp>
        <p:nvSpPr>
          <p:cNvPr id="13" name="TextBox 12"/>
          <p:cNvSpPr txBox="1"/>
          <p:nvPr/>
        </p:nvSpPr>
        <p:spPr>
          <a:xfrm>
            <a:off x="1417320" y="2944368"/>
            <a:ext cx="731520" cy="640080"/>
          </a:xfrm>
          <a:prstGeom prst="rect">
            <a:avLst/>
          </a:prstGeom>
          <a:noFill/>
        </p:spPr>
        <p:txBody>
          <a:bodyPr wrap="square" anchor="t">
            <a:spAutoFit/>
          </a:bodyPr>
          <a:lstStyle/>
          <a:p>
            <a:pPr algn="ctr"/>
            <a:r>
              <a:rPr sz="3600" b="1">
                <a:solidFill>
                  <a:srgbClr val="EF4444"/>
                </a:solidFill>
                <a:latin typeface="Calibri"/>
              </a:rPr>
              <a:t>×</a:t>
            </a:r>
          </a:p>
        </p:txBody>
      </p:sp>
      <p:sp>
        <p:nvSpPr>
          <p:cNvPr id="14" name="Rounded Rectangle 13"/>
          <p:cNvSpPr/>
          <p:nvPr/>
        </p:nvSpPr>
        <p:spPr>
          <a:xfrm>
            <a:off x="342900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Beneficiary registry</a:t>
            </a:r>
          </a:p>
          <a:p>
            <a:pPr algn="ctr"/>
            <a:r>
              <a:rPr sz="1700" b="0">
                <a:solidFill>
                  <a:srgbClr val="FFFFFF"/>
                </a:solidFill>
                <a:latin typeface="Calibri"/>
              </a:rPr>
              <a:t>the ONLY source</a:t>
            </a:r>
          </a:p>
          <a:p>
            <a:pPr algn="ctr"/>
            <a:r>
              <a:rPr sz="1700" b="0">
                <a:solidFill>
                  <a:srgbClr val="FFFFFF"/>
                </a:solidFill>
                <a:latin typeface="Calibri"/>
              </a:rPr>
              <a:t>of IBANs</a:t>
            </a:r>
          </a:p>
        </p:txBody>
      </p:sp>
      <p:cxnSp>
        <p:nvCxnSpPr>
          <p:cNvPr id="15" name="Connector 14"/>
          <p:cNvCxnSpPr/>
          <p:nvPr/>
        </p:nvCxnSpPr>
        <p:spPr>
          <a:xfrm flipV="1">
            <a:off x="466344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3611880"/>
            <a:ext cx="2468880" cy="1234440"/>
          </a:xfrm>
          <a:prstGeom prst="roundRect">
            <a:avLst>
              <a:gd name="adj" fmla="val 8000"/>
            </a:avLst>
          </a:prstGeom>
          <a:solidFill>
            <a:srgbClr val="142B4D"/>
          </a:solid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User confirms</a:t>
            </a:r>
          </a:p>
          <a:p>
            <a:pPr algn="ctr"/>
            <a:r>
              <a:rPr sz="1700" b="0">
                <a:solidFill>
                  <a:srgbClr val="FFFFFF"/>
                </a:solidFill>
                <a:latin typeface="Calibri"/>
              </a:rPr>
              <a:t>tap or one-time code,</a:t>
            </a:r>
          </a:p>
          <a:p>
            <a:pPr algn="ctr"/>
            <a:r>
              <a:rPr sz="1700" b="0">
                <a:solidFill>
                  <a:srgbClr val="FFFFFF"/>
                </a:solidFill>
                <a:latin typeface="Calibri"/>
              </a:rPr>
              <a:t>bound to params hash</a:t>
            </a:r>
          </a:p>
        </p:txBody>
      </p:sp>
      <p:cxnSp>
        <p:nvCxnSpPr>
          <p:cNvPr id="17" name="Connector 16"/>
          <p:cNvCxnSpPr/>
          <p:nvPr/>
        </p:nvCxnSpPr>
        <p:spPr>
          <a:xfrm flipV="1">
            <a:off x="7543800" y="2999232"/>
            <a:ext cx="0" cy="594360"/>
          </a:xfrm>
          <a:prstGeom prst="line">
            <a:avLst/>
          </a:prstGeom>
          <a:ln w="381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8972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Proof of Intent</a:t>
            </a:r>
          </a:p>
          <a:p>
            <a:pPr algn="ctr"/>
            <a:r>
              <a:rPr sz="1700" b="0">
                <a:solidFill>
                  <a:srgbClr val="FFFFFF"/>
                </a:solidFill>
                <a:latin typeface="Calibri"/>
              </a:rPr>
              <a:t>hash-chained receipts</a:t>
            </a:r>
          </a:p>
          <a:p>
            <a:pPr algn="ctr"/>
            <a:r>
              <a:rPr sz="1700" b="0">
                <a:solidFill>
                  <a:srgbClr val="FFFFFF"/>
                </a:solidFill>
                <a:latin typeface="Calibri"/>
              </a:rPr>
              <a:t>+ signed anchor</a:t>
            </a:r>
          </a:p>
        </p:txBody>
      </p:sp>
      <p:cxnSp>
        <p:nvCxnSpPr>
          <p:cNvPr id="19" name="Connector 18"/>
          <p:cNvCxnSpPr/>
          <p:nvPr/>
        </p:nvCxnSpPr>
        <p:spPr>
          <a:xfrm>
            <a:off x="1042416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5257800"/>
            <a:ext cx="11109960" cy="9144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The LLM </a:t>
            </a:r>
            <a:r>
              <a:rPr sz="2600" b="1">
                <a:solidFill>
                  <a:srgbClr val="2DD4BF"/>
                </a:solidFill>
                <a:latin typeface="Calibri"/>
              </a:rPr>
              <a:t>proposes</a:t>
            </a:r>
            <a:r>
              <a:rPr sz="2600" b="1">
                <a:solidFill>
                  <a:srgbClr val="FFFFFF"/>
                </a:solidFill>
                <a:latin typeface="Calibri"/>
              </a:rPr>
              <a:t>. A deterministic policy </a:t>
            </a:r>
            <a:r>
              <a:rPr sz="2600" b="1">
                <a:solidFill>
                  <a:srgbClr val="2DD4BF"/>
                </a:solidFill>
                <a:latin typeface="Calibri"/>
              </a:rPr>
              <a:t>authorises</a:t>
            </a:r>
            <a:r>
              <a:rPr sz="2600" b="1">
                <a:solidFill>
                  <a:srgbClr val="FFFFFF"/>
                </a:solidFill>
                <a:latin typeface="Calibri"/>
              </a:rPr>
              <a:t>. A sandbox </a:t>
            </a:r>
            <a:r>
              <a:rPr sz="2600" b="1">
                <a:solidFill>
                  <a:srgbClr val="2DD4BF"/>
                </a:solidFill>
                <a:latin typeface="Calibri"/>
              </a:rPr>
              <a:t>executes</a:t>
            </a:r>
            <a:r>
              <a:rPr sz="2600" b="1">
                <a:solidFill>
                  <a:srgbClr val="FFFFFF"/>
                </a:solidFill>
                <a:latin typeface="Calibri"/>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1: one sentence, a safe plan, the trap defused</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4</a:t>
            </a:r>
          </a:p>
        </p:txBody>
      </p:sp>
      <p:pic>
        <p:nvPicPr>
          <p:cNvPr id="5" name="Picture 4" descr="image.png"/>
          <p:cNvPicPr>
            <a:picLocks noChangeAspect="1"/>
          </p:cNvPicPr>
          <p:nvPr/>
        </p:nvPicPr>
        <p:blipFill>
          <a:blip r:embed="rId2"/>
          <a:stretch>
            <a:fillRect/>
          </a:stretch>
        </p:blipFill>
        <p:spPr>
          <a:xfrm>
            <a:off x="502920" y="1188720"/>
            <a:ext cx="7726679" cy="4032784"/>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One sentence</a:t>
            </a:r>
          </a:p>
        </p:txBody>
      </p:sp>
      <p:sp>
        <p:nvSpPr>
          <p:cNvPr id="8" name="TextBox 7"/>
          <p:cNvSpPr txBox="1"/>
          <p:nvPr/>
        </p:nvSpPr>
        <p:spPr>
          <a:xfrm>
            <a:off x="8961120" y="1517904"/>
            <a:ext cx="2971800" cy="905256"/>
          </a:xfrm>
          <a:prstGeom prst="rect">
            <a:avLst/>
          </a:prstGeom>
          <a:noFill/>
        </p:spPr>
        <p:txBody>
          <a:bodyPr wrap="square" anchor="t">
            <a:spAutoFit/>
          </a:bodyPr>
          <a:lstStyle/>
          <a:p>
            <a:pPr algn="l"/>
            <a:r>
              <a:rPr sz="1700" b="0">
                <a:solidFill>
                  <a:srgbClr val="FFFFFF"/>
                </a:solidFill>
                <a:latin typeface="Calibri"/>
              </a:rPr>
              <a:t>"Pay tuition and rent,</a:t>
            </a:r>
          </a:p>
          <a:p>
            <a:pPr algn="l"/>
            <a:r>
              <a:rPr sz="1700" b="0">
                <a:solidFill>
                  <a:srgbClr val="FFFFFF"/>
                </a:solidFill>
                <a:latin typeface="Calibri"/>
              </a:rPr>
              <a:t>keep 600 EUR"</a:t>
            </a:r>
          </a:p>
        </p:txBody>
      </p:sp>
      <p:sp>
        <p:nvSpPr>
          <p:cNvPr id="9" name="Oval 8"/>
          <p:cNvSpPr/>
          <p:nvPr/>
        </p:nvSpPr>
        <p:spPr>
          <a:xfrm>
            <a:off x="8503920" y="255117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496312"/>
            <a:ext cx="2971800" cy="384048"/>
          </a:xfrm>
          <a:prstGeom prst="rect">
            <a:avLst/>
          </a:prstGeom>
          <a:noFill/>
        </p:spPr>
        <p:txBody>
          <a:bodyPr wrap="square" anchor="t">
            <a:spAutoFit/>
          </a:bodyPr>
          <a:lstStyle/>
          <a:p>
            <a:pPr algn="l"/>
            <a:r>
              <a:rPr sz="1900" b="1">
                <a:solidFill>
                  <a:srgbClr val="EF4444"/>
                </a:solidFill>
                <a:latin typeface="Calibri"/>
              </a:rPr>
              <a:t>Injection quarantined</a:t>
            </a:r>
          </a:p>
        </p:txBody>
      </p:sp>
      <p:sp>
        <p:nvSpPr>
          <p:cNvPr id="11" name="TextBox 10"/>
          <p:cNvSpPr txBox="1"/>
          <p:nvPr/>
        </p:nvSpPr>
        <p:spPr>
          <a:xfrm>
            <a:off x="8961120" y="2843784"/>
            <a:ext cx="2971800" cy="905256"/>
          </a:xfrm>
          <a:prstGeom prst="rect">
            <a:avLst/>
          </a:prstGeom>
          <a:noFill/>
        </p:spPr>
        <p:txBody>
          <a:bodyPr wrap="square" anchor="t">
            <a:spAutoFit/>
          </a:bodyPr>
          <a:lstStyle/>
          <a:p>
            <a:pPr algn="l"/>
            <a:r>
              <a:rPr sz="1700" b="0">
                <a:solidFill>
                  <a:srgbClr val="FFFFFF"/>
                </a:solidFill>
                <a:latin typeface="Calibri"/>
              </a:rPr>
              <a:t>hidden order: wire 2,000 EUR</a:t>
            </a:r>
          </a:p>
          <a:p>
            <a:pPr algn="l"/>
            <a:r>
              <a:rPr sz="1700" b="0">
                <a:solidFill>
                  <a:srgbClr val="FFFFFF"/>
                </a:solidFill>
                <a:latin typeface="Calibri"/>
              </a:rPr>
              <a:t>to a UK IBAN, no questions</a:t>
            </a:r>
          </a:p>
        </p:txBody>
      </p:sp>
      <p:sp>
        <p:nvSpPr>
          <p:cNvPr id="12" name="Oval 11"/>
          <p:cNvSpPr/>
          <p:nvPr/>
        </p:nvSpPr>
        <p:spPr>
          <a:xfrm>
            <a:off x="8503920" y="38770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3822192"/>
            <a:ext cx="2971800" cy="384048"/>
          </a:xfrm>
          <a:prstGeom prst="rect">
            <a:avLst/>
          </a:prstGeom>
          <a:noFill/>
        </p:spPr>
        <p:txBody>
          <a:bodyPr wrap="square" anchor="t">
            <a:spAutoFit/>
          </a:bodyPr>
          <a:lstStyle/>
          <a:p>
            <a:pPr algn="l"/>
            <a:r>
              <a:rPr sz="1900" b="1">
                <a:solidFill>
                  <a:srgbClr val="2DD4BF"/>
                </a:solidFill>
                <a:latin typeface="Calibri"/>
              </a:rPr>
              <a:t>Three-step plan</a:t>
            </a:r>
          </a:p>
        </p:txBody>
      </p:sp>
      <p:sp>
        <p:nvSpPr>
          <p:cNvPr id="14" name="TextBox 13"/>
          <p:cNvSpPr txBox="1"/>
          <p:nvPr/>
        </p:nvSpPr>
        <p:spPr>
          <a:xfrm>
            <a:off x="8961120" y="4169664"/>
            <a:ext cx="2971800" cy="905256"/>
          </a:xfrm>
          <a:prstGeom prst="rect">
            <a:avLst/>
          </a:prstGeom>
          <a:noFill/>
        </p:spPr>
        <p:txBody>
          <a:bodyPr wrap="square" anchor="t">
            <a:spAutoFit/>
          </a:bodyPr>
          <a:lstStyle/>
          <a:p>
            <a:pPr algn="l"/>
            <a:r>
              <a:rPr sz="1700" b="0">
                <a:solidFill>
                  <a:srgbClr val="FFFFFF"/>
                </a:solidFill>
                <a:latin typeface="Calibri"/>
              </a:rPr>
              <a:t>buy 2,200 EUR, then pay</a:t>
            </a:r>
          </a:p>
          <a:p>
            <a:pPr algn="l"/>
            <a:r>
              <a:rPr sz="1700" b="0">
                <a:solidFill>
                  <a:srgbClr val="FFFFFF"/>
                </a:solidFill>
                <a:latin typeface="Calibri"/>
              </a:rPr>
              <a:t>tuition 1,200 and rent 850</a:t>
            </a:r>
          </a:p>
        </p:txBody>
      </p:sp>
      <p:sp>
        <p:nvSpPr>
          <p:cNvPr id="15" name="Oval 14"/>
          <p:cNvSpPr/>
          <p:nvPr/>
        </p:nvSpPr>
        <p:spPr>
          <a:xfrm>
            <a:off x="8503920" y="5202936"/>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4</a:t>
            </a:r>
          </a:p>
        </p:txBody>
      </p:sp>
      <p:sp>
        <p:nvSpPr>
          <p:cNvPr id="16" name="TextBox 15"/>
          <p:cNvSpPr txBox="1"/>
          <p:nvPr/>
        </p:nvSpPr>
        <p:spPr>
          <a:xfrm>
            <a:off x="8961120" y="5148072"/>
            <a:ext cx="2971800" cy="384048"/>
          </a:xfrm>
          <a:prstGeom prst="rect">
            <a:avLst/>
          </a:prstGeom>
          <a:noFill/>
        </p:spPr>
        <p:txBody>
          <a:bodyPr wrap="square" anchor="t">
            <a:spAutoFit/>
          </a:bodyPr>
          <a:lstStyle/>
          <a:p>
            <a:pPr algn="l"/>
            <a:r>
              <a:rPr sz="1900" b="1">
                <a:solidFill>
                  <a:srgbClr val="F59E0B"/>
                </a:solidFill>
                <a:latin typeface="Calibri"/>
              </a:rPr>
              <a:t>Rent is R3</a:t>
            </a:r>
          </a:p>
        </p:txBody>
      </p:sp>
      <p:sp>
        <p:nvSpPr>
          <p:cNvPr id="17" name="TextBox 16"/>
          <p:cNvSpPr txBox="1"/>
          <p:nvPr/>
        </p:nvSpPr>
        <p:spPr>
          <a:xfrm>
            <a:off x="8961120" y="5495544"/>
            <a:ext cx="2971800" cy="676656"/>
          </a:xfrm>
          <a:prstGeom prst="rect">
            <a:avLst/>
          </a:prstGeom>
          <a:noFill/>
        </p:spPr>
        <p:txBody>
          <a:bodyPr wrap="square" anchor="t">
            <a:spAutoFit/>
          </a:bodyPr>
          <a:lstStyle/>
          <a:p>
            <a:pPr algn="l"/>
            <a:r>
              <a:rPr sz="1700" b="0">
                <a:solidFill>
                  <a:srgbClr val="FFFFFF"/>
                </a:solidFill>
                <a:latin typeface="Calibri"/>
              </a:rPr>
              <a:t>payee added 20 h ago:</a:t>
            </a:r>
          </a:p>
          <a:p>
            <a:pPr algn="l"/>
            <a:r>
              <a:rPr sz="1700" b="0">
                <a:solidFill>
                  <a:srgbClr val="FFFFFF"/>
                </a:solidFill>
                <a:latin typeface="Calibri"/>
              </a:rPr>
              <a:t>one-time code</a:t>
            </a:r>
          </a:p>
        </p:txBody>
      </p:sp>
      <p:sp>
        <p:nvSpPr>
          <p:cNvPr id="18" name="Rounded Rectangle 17"/>
          <p:cNvSpPr/>
          <p:nvPr/>
        </p:nvSpPr>
        <p:spPr>
          <a:xfrm>
            <a:off x="502920" y="5404384"/>
            <a:ext cx="7726679" cy="767815"/>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450 + 2,200 − 1,200 − 850 = </a:t>
            </a:r>
            <a:r>
              <a:rPr sz="2000" b="1">
                <a:solidFill>
                  <a:srgbClr val="2DD4BF"/>
                </a:solidFill>
                <a:latin typeface="Calibri"/>
              </a:rPr>
              <a:t>600 EUR</a:t>
            </a:r>
            <a:r>
              <a:rPr sz="2000" b="1">
                <a:solidFill>
                  <a:srgbClr val="FFFFFF"/>
                </a:solidFill>
                <a:latin typeface="Calibri"/>
              </a:rPr>
              <a:t>, exactly the reserve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2: a question is simulated, never executed</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5</a:t>
            </a:r>
          </a:p>
        </p:txBody>
      </p:sp>
      <p:pic>
        <p:nvPicPr>
          <p:cNvPr id="5" name="Picture 4" descr="image.png"/>
          <p:cNvPicPr>
            <a:picLocks noChangeAspect="1"/>
          </p:cNvPicPr>
          <p:nvPr/>
        </p:nvPicPr>
        <p:blipFill>
          <a:blip r:embed="rId2"/>
          <a:stretch>
            <a:fillRect/>
          </a:stretch>
        </p:blipFill>
        <p:spPr>
          <a:xfrm>
            <a:off x="502920" y="1188720"/>
            <a:ext cx="7726679" cy="3926892"/>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She asks</a:t>
            </a:r>
          </a:p>
        </p:txBody>
      </p:sp>
      <p:sp>
        <p:nvSpPr>
          <p:cNvPr id="8" name="TextBox 7"/>
          <p:cNvSpPr txBox="1"/>
          <p:nvPr/>
        </p:nvSpPr>
        <p:spPr>
          <a:xfrm>
            <a:off x="8961120" y="1517904"/>
            <a:ext cx="2971800" cy="1042416"/>
          </a:xfrm>
          <a:prstGeom prst="rect">
            <a:avLst/>
          </a:prstGeom>
          <a:noFill/>
        </p:spPr>
        <p:txBody>
          <a:bodyPr wrap="square" anchor="t">
            <a:spAutoFit/>
          </a:bodyPr>
          <a:lstStyle/>
          <a:p>
            <a:pPr algn="l"/>
            <a:r>
              <a:rPr sz="1700" b="0">
                <a:solidFill>
                  <a:srgbClr val="FFFFFF"/>
                </a:solidFill>
                <a:latin typeface="Calibri"/>
              </a:rPr>
              <a:t>"Can I afford 300 EUR</a:t>
            </a:r>
          </a:p>
          <a:p>
            <a:pPr algn="l"/>
            <a:r>
              <a:rPr sz="1700" b="0">
                <a:solidFill>
                  <a:srgbClr val="FFFFFF"/>
                </a:solidFill>
                <a:latin typeface="Calibri"/>
              </a:rPr>
              <a:t>to mom after my bills?"</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724912"/>
            <a:ext cx="2971800" cy="384048"/>
          </a:xfrm>
          <a:prstGeom prst="rect">
            <a:avLst/>
          </a:prstGeom>
          <a:noFill/>
        </p:spPr>
        <p:txBody>
          <a:bodyPr wrap="square" anchor="t">
            <a:spAutoFit/>
          </a:bodyPr>
          <a:lstStyle/>
          <a:p>
            <a:pPr algn="l"/>
            <a:r>
              <a:rPr sz="1900" b="1">
                <a:solidFill>
                  <a:srgbClr val="2DD4BF"/>
                </a:solidFill>
                <a:latin typeface="Calibri"/>
              </a:rPr>
              <a:t>Whole plan simulated</a:t>
            </a:r>
          </a:p>
        </p:txBody>
      </p:sp>
      <p:sp>
        <p:nvSpPr>
          <p:cNvPr id="11" name="TextBox 10"/>
          <p:cNvSpPr txBox="1"/>
          <p:nvPr/>
        </p:nvSpPr>
        <p:spPr>
          <a:xfrm>
            <a:off x="8961120" y="3072384"/>
            <a:ext cx="2971800" cy="1042416"/>
          </a:xfrm>
          <a:prstGeom prst="rect">
            <a:avLst/>
          </a:prstGeom>
          <a:noFill/>
        </p:spPr>
        <p:txBody>
          <a:bodyPr wrap="square" anchor="t">
            <a:spAutoFit/>
          </a:bodyPr>
          <a:lstStyle/>
          <a:p>
            <a:pPr algn="l"/>
            <a:r>
              <a:rPr sz="1700" b="0">
                <a:solidFill>
                  <a:srgbClr val="FFFFFF"/>
                </a:solidFill>
                <a:latin typeface="Calibri"/>
              </a:rPr>
              <a:t>FX, tuition, rent</a:t>
            </a:r>
          </a:p>
          <a:p>
            <a:pPr algn="l"/>
            <a:r>
              <a:rPr sz="1700" b="0">
                <a:solidFill>
                  <a:srgbClr val="FFFFFF"/>
                </a:solidFill>
                <a:latin typeface="Calibri"/>
              </a:rPr>
              <a:t>and the extra 300 EUR</a:t>
            </a:r>
          </a:p>
        </p:txBody>
      </p:sp>
      <p:sp>
        <p:nvSpPr>
          <p:cNvPr id="12" name="Oval 11"/>
          <p:cNvSpPr/>
          <p:nvPr/>
        </p:nvSpPr>
        <p:spPr>
          <a:xfrm>
            <a:off x="8503920" y="433425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4279392"/>
            <a:ext cx="2971800" cy="384048"/>
          </a:xfrm>
          <a:prstGeom prst="rect">
            <a:avLst/>
          </a:prstGeom>
          <a:noFill/>
        </p:spPr>
        <p:txBody>
          <a:bodyPr wrap="square" anchor="t">
            <a:spAutoFit/>
          </a:bodyPr>
          <a:lstStyle/>
          <a:p>
            <a:pPr algn="l"/>
            <a:r>
              <a:rPr sz="1900" b="1">
                <a:solidFill>
                  <a:srgbClr val="EF4444"/>
                </a:solidFill>
                <a:latin typeface="Calibri"/>
              </a:rPr>
              <a:t>Plain answer</a:t>
            </a:r>
          </a:p>
        </p:txBody>
      </p:sp>
      <p:sp>
        <p:nvSpPr>
          <p:cNvPr id="14" name="TextBox 13"/>
          <p:cNvSpPr txBox="1"/>
          <p:nvPr/>
        </p:nvSpPr>
        <p:spPr>
          <a:xfrm>
            <a:off x="8961120" y="4626864"/>
            <a:ext cx="2971800" cy="1042416"/>
          </a:xfrm>
          <a:prstGeom prst="rect">
            <a:avLst/>
          </a:prstGeom>
          <a:noFill/>
        </p:spPr>
        <p:txBody>
          <a:bodyPr wrap="square" anchor="t">
            <a:spAutoFit/>
          </a:bodyPr>
          <a:lstStyle/>
          <a:p>
            <a:pPr algn="l"/>
            <a:r>
              <a:rPr sz="1700" b="0">
                <a:solidFill>
                  <a:srgbClr val="FFFFFF"/>
                </a:solidFill>
                <a:latin typeface="Calibri"/>
              </a:rPr>
              <a:t>300 EUR left, below</a:t>
            </a:r>
          </a:p>
          <a:p>
            <a:pPr algn="l"/>
            <a:r>
              <a:rPr sz="1700" b="0">
                <a:solidFill>
                  <a:srgbClr val="FFFFFF"/>
                </a:solidFill>
                <a:latin typeface="Calibri"/>
              </a:rPr>
              <a:t>the 600 EUR reserve</a:t>
            </a:r>
          </a:p>
        </p:txBody>
      </p:sp>
      <p:sp>
        <p:nvSpPr>
          <p:cNvPr id="15" name="Rounded Rectangle 14"/>
          <p:cNvSpPr/>
          <p:nvPr/>
        </p:nvSpPr>
        <p:spPr>
          <a:xfrm>
            <a:off x="502920" y="5298492"/>
            <a:ext cx="7726679" cy="873707"/>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Questions produce a projection only: </a:t>
            </a:r>
            <a:r>
              <a:rPr sz="2000" b="1">
                <a:solidFill>
                  <a:srgbClr val="2DD4BF"/>
                </a:solidFill>
                <a:latin typeface="Calibri"/>
              </a:rPr>
              <a:t>0 actions proposed, 0 moved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3: executed, receipted, and anchored</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6</a:t>
            </a:r>
          </a:p>
        </p:txBody>
      </p:sp>
      <p:pic>
        <p:nvPicPr>
          <p:cNvPr id="5" name="Picture 4" descr="image.png"/>
          <p:cNvPicPr>
            <a:picLocks noChangeAspect="1"/>
          </p:cNvPicPr>
          <p:nvPr/>
        </p:nvPicPr>
        <p:blipFill>
          <a:blip r:embed="rId2"/>
          <a:stretch>
            <a:fillRect/>
          </a:stretch>
        </p:blipFill>
        <p:spPr>
          <a:xfrm>
            <a:off x="502920" y="1188720"/>
            <a:ext cx="7726679" cy="2274520"/>
          </a:xfrm>
          <a:prstGeom prst="rect">
            <a:avLst/>
          </a:prstGeom>
          <a:ln w="31750">
            <a:solidFill>
              <a:srgbClr val="2DD4BF"/>
            </a:solidFill>
          </a:ln>
        </p:spPr>
      </p:pic>
      <p:pic>
        <p:nvPicPr>
          <p:cNvPr id="6" name="Picture 5" descr="image.png"/>
          <p:cNvPicPr>
            <a:picLocks noChangeAspect="1"/>
          </p:cNvPicPr>
          <p:nvPr/>
        </p:nvPicPr>
        <p:blipFill>
          <a:blip r:embed="rId3"/>
          <a:stretch>
            <a:fillRect/>
          </a:stretch>
        </p:blipFill>
        <p:spPr>
          <a:xfrm>
            <a:off x="502920" y="3646120"/>
            <a:ext cx="7726679" cy="2470934"/>
          </a:xfrm>
          <a:prstGeom prst="rect">
            <a:avLst/>
          </a:prstGeom>
          <a:ln w="31750">
            <a:solidFill>
              <a:srgbClr val="2DD4BF"/>
            </a:solidFill>
          </a:ln>
        </p:spPr>
      </p:pic>
      <p:pic>
        <p:nvPicPr>
          <p:cNvPr id="7" name="Picture 6" descr="image.png"/>
          <p:cNvPicPr>
            <a:picLocks noChangeAspect="1"/>
          </p:cNvPicPr>
          <p:nvPr/>
        </p:nvPicPr>
        <p:blipFill>
          <a:blip r:embed="rId4"/>
          <a:stretch>
            <a:fillRect/>
          </a:stretch>
        </p:blipFill>
        <p:spPr>
          <a:xfrm>
            <a:off x="8503920" y="1188720"/>
            <a:ext cx="1783080" cy="1337310"/>
          </a:xfrm>
          <a:prstGeom prst="rect">
            <a:avLst/>
          </a:prstGeom>
          <a:ln w="31750">
            <a:solidFill>
              <a:srgbClr val="2DD4BF"/>
            </a:solidFill>
          </a:ln>
        </p:spPr>
      </p:pic>
      <p:sp>
        <p:nvSpPr>
          <p:cNvPr id="8" name="TextBox 7"/>
          <p:cNvSpPr txBox="1"/>
          <p:nvPr/>
        </p:nvSpPr>
        <p:spPr>
          <a:xfrm>
            <a:off x="10332720" y="1280160"/>
            <a:ext cx="1737360" cy="1188720"/>
          </a:xfrm>
          <a:prstGeom prst="rect">
            <a:avLst/>
          </a:prstGeom>
          <a:noFill/>
        </p:spPr>
        <p:txBody>
          <a:bodyPr wrap="square" anchor="t">
            <a:spAutoFit/>
          </a:bodyPr>
          <a:lstStyle/>
          <a:p>
            <a:pPr algn="l"/>
            <a:r>
              <a:rPr sz="2000" b="1">
                <a:solidFill>
                  <a:srgbClr val="2DD4BF"/>
                </a:solidFill>
                <a:latin typeface="Calibri"/>
              </a:rPr>
              <a:t>EUR 600.00</a:t>
            </a:r>
          </a:p>
          <a:p>
            <a:pPr algn="l"/>
            <a:r>
              <a:rPr sz="2000" b="1">
                <a:solidFill>
                  <a:srgbClr val="2DD4BF"/>
                </a:solidFill>
                <a:latin typeface="Calibri"/>
              </a:rPr>
              <a:t>reserve</a:t>
            </a:r>
          </a:p>
          <a:p>
            <a:pPr algn="l"/>
            <a:r>
              <a:rPr sz="2000" b="1">
                <a:solidFill>
                  <a:srgbClr val="2DD4BF"/>
                </a:solidFill>
                <a:latin typeface="Calibri"/>
              </a:rPr>
              <a:t>kept</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10" name="TextBox 9"/>
          <p:cNvSpPr txBox="1"/>
          <p:nvPr/>
        </p:nvSpPr>
        <p:spPr>
          <a:xfrm>
            <a:off x="8961120" y="2724912"/>
            <a:ext cx="3063240" cy="384048"/>
          </a:xfrm>
          <a:prstGeom prst="rect">
            <a:avLst/>
          </a:prstGeom>
          <a:noFill/>
        </p:spPr>
        <p:txBody>
          <a:bodyPr wrap="square" anchor="t">
            <a:spAutoFit/>
          </a:bodyPr>
          <a:lstStyle/>
          <a:p>
            <a:pPr algn="l"/>
            <a:r>
              <a:rPr sz="1900" b="1">
                <a:solidFill>
                  <a:srgbClr val="2DD4BF"/>
                </a:solidFill>
                <a:latin typeface="Calibri"/>
              </a:rPr>
              <a:t>Receipt per action</a:t>
            </a:r>
          </a:p>
        </p:txBody>
      </p:sp>
      <p:sp>
        <p:nvSpPr>
          <p:cNvPr id="11" name="TextBox 10"/>
          <p:cNvSpPr txBox="1"/>
          <p:nvPr/>
        </p:nvSpPr>
        <p:spPr>
          <a:xfrm>
            <a:off x="8961120" y="3072384"/>
            <a:ext cx="3063240" cy="813816"/>
          </a:xfrm>
          <a:prstGeom prst="rect">
            <a:avLst/>
          </a:prstGeom>
          <a:noFill/>
        </p:spPr>
        <p:txBody>
          <a:bodyPr wrap="square" anchor="t">
            <a:spAutoFit/>
          </a:bodyPr>
          <a:lstStyle/>
          <a:p>
            <a:pPr algn="l"/>
            <a:r>
              <a:rPr sz="1700" b="0">
                <a:solidFill>
                  <a:srgbClr val="FFFFFF"/>
                </a:solidFill>
                <a:latin typeface="Calibri"/>
              </a:rPr>
              <a:t>executed and denied,</a:t>
            </a:r>
          </a:p>
          <a:p>
            <a:pPr algn="l"/>
            <a:r>
              <a:rPr sz="1700" b="0">
                <a:solidFill>
                  <a:srgbClr val="FFFFFF"/>
                </a:solidFill>
                <a:latin typeface="Calibri"/>
              </a:rPr>
              <a:t>hash-chained</a:t>
            </a:r>
          </a:p>
        </p:txBody>
      </p:sp>
      <p:sp>
        <p:nvSpPr>
          <p:cNvPr id="12" name="Oval 11"/>
          <p:cNvSpPr/>
          <p:nvPr/>
        </p:nvSpPr>
        <p:spPr>
          <a:xfrm>
            <a:off x="8503920" y="4014215"/>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3" name="TextBox 12"/>
          <p:cNvSpPr txBox="1"/>
          <p:nvPr/>
        </p:nvSpPr>
        <p:spPr>
          <a:xfrm>
            <a:off x="8961120" y="3959352"/>
            <a:ext cx="3063240" cy="384048"/>
          </a:xfrm>
          <a:prstGeom prst="rect">
            <a:avLst/>
          </a:prstGeom>
          <a:noFill/>
        </p:spPr>
        <p:txBody>
          <a:bodyPr wrap="square" anchor="t">
            <a:spAutoFit/>
          </a:bodyPr>
          <a:lstStyle/>
          <a:p>
            <a:pPr algn="l"/>
            <a:r>
              <a:rPr sz="1900" b="1">
                <a:solidFill>
                  <a:srgbClr val="2DD4BF"/>
                </a:solidFill>
                <a:latin typeface="Calibri"/>
              </a:rPr>
              <a:t>Customer-held anchor</a:t>
            </a:r>
          </a:p>
        </p:txBody>
      </p:sp>
      <p:sp>
        <p:nvSpPr>
          <p:cNvPr id="14" name="TextBox 13"/>
          <p:cNvSpPr txBox="1"/>
          <p:nvPr/>
        </p:nvSpPr>
        <p:spPr>
          <a:xfrm>
            <a:off x="8961120" y="4306824"/>
            <a:ext cx="3063240" cy="813816"/>
          </a:xfrm>
          <a:prstGeom prst="rect">
            <a:avLst/>
          </a:prstGeom>
          <a:noFill/>
        </p:spPr>
        <p:txBody>
          <a:bodyPr wrap="square" anchor="t">
            <a:spAutoFit/>
          </a:bodyPr>
          <a:lstStyle/>
          <a:p>
            <a:pPr algn="l"/>
            <a:r>
              <a:rPr sz="1700" b="0">
                <a:solidFill>
                  <a:srgbClr val="FFFFFF"/>
                </a:solidFill>
                <a:latin typeface="Calibri"/>
              </a:rPr>
              <a:t>HMAC-signed chain head,</a:t>
            </a:r>
          </a:p>
          <a:p>
            <a:pPr algn="l"/>
            <a:r>
              <a:rPr sz="1700" b="0">
                <a:solidFill>
                  <a:srgbClr val="FFFFFF"/>
                </a:solidFill>
                <a:latin typeface="Calibri"/>
              </a:rPr>
              <a:t>kept by Lina</a:t>
            </a:r>
          </a:p>
        </p:txBody>
      </p:sp>
      <p:sp>
        <p:nvSpPr>
          <p:cNvPr id="15" name="Oval 14"/>
          <p:cNvSpPr/>
          <p:nvPr/>
        </p:nvSpPr>
        <p:spPr>
          <a:xfrm>
            <a:off x="8503920" y="52486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6" name="TextBox 15"/>
          <p:cNvSpPr txBox="1"/>
          <p:nvPr/>
        </p:nvSpPr>
        <p:spPr>
          <a:xfrm>
            <a:off x="8961120" y="5193792"/>
            <a:ext cx="3063240" cy="384048"/>
          </a:xfrm>
          <a:prstGeom prst="rect">
            <a:avLst/>
          </a:prstGeom>
          <a:noFill/>
        </p:spPr>
        <p:txBody>
          <a:bodyPr wrap="square" anchor="t">
            <a:spAutoFit/>
          </a:bodyPr>
          <a:lstStyle/>
          <a:p>
            <a:pPr algn="l"/>
            <a:r>
              <a:rPr sz="1900" b="1">
                <a:solidFill>
                  <a:srgbClr val="2DD4BF"/>
                </a:solidFill>
                <a:latin typeface="Calibri"/>
              </a:rPr>
              <a:t>Beyond the chain</a:t>
            </a:r>
          </a:p>
        </p:txBody>
      </p:sp>
      <p:sp>
        <p:nvSpPr>
          <p:cNvPr id="17" name="TextBox 16"/>
          <p:cNvSpPr txBox="1"/>
          <p:nvPr/>
        </p:nvSpPr>
        <p:spPr>
          <a:xfrm>
            <a:off x="8961120" y="5541264"/>
            <a:ext cx="3063240" cy="722375"/>
          </a:xfrm>
          <a:prstGeom prst="rect">
            <a:avLst/>
          </a:prstGeom>
          <a:noFill/>
        </p:spPr>
        <p:txBody>
          <a:bodyPr wrap="square" anchor="t">
            <a:spAutoFit/>
          </a:bodyPr>
          <a:lstStyle/>
          <a:p>
            <a:pPr algn="l"/>
            <a:r>
              <a:rPr sz="1700" b="0">
                <a:solidFill>
                  <a:srgbClr val="FFFFFF"/>
                </a:solidFill>
                <a:latin typeface="Calibri"/>
              </a:rPr>
              <a:t>detects truncated or</a:t>
            </a:r>
          </a:p>
          <a:p>
            <a:pPr algn="l"/>
            <a:r>
              <a:rPr sz="1700" b="0">
                <a:solidFill>
                  <a:srgbClr val="FFFFFF"/>
                </a:solidFill>
                <a:latin typeface="Calibri"/>
              </a:rPr>
              <a:t>rewritten chains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A real dialogue: ask, clarify, correct, cancel</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7</a:t>
            </a:r>
          </a:p>
        </p:txBody>
      </p:sp>
      <p:sp>
        <p:nvSpPr>
          <p:cNvPr id="5" name="Rounded Rectangle 4"/>
          <p:cNvSpPr/>
          <p:nvPr/>
        </p:nvSpPr>
        <p:spPr>
          <a:xfrm>
            <a:off x="548640" y="12344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Clarify</a:t>
            </a:r>
          </a:p>
        </p:txBody>
      </p:sp>
      <p:sp>
        <p:nvSpPr>
          <p:cNvPr id="6" name="Rounded Rectangle 5"/>
          <p:cNvSpPr/>
          <p:nvPr/>
        </p:nvSpPr>
        <p:spPr>
          <a:xfrm>
            <a:off x="2286000" y="12344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"Send money to mom"  →  "50 euros"</a:t>
            </a:r>
          </a:p>
        </p:txBody>
      </p:sp>
      <p:sp>
        <p:nvSpPr>
          <p:cNvPr id="7" name="Rounded Rectangle 6"/>
          <p:cNvSpPr/>
          <p:nvPr/>
        </p:nvSpPr>
        <p:spPr>
          <a:xfrm>
            <a:off x="6492240" y="12344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missing amount becomes a question;</a:t>
            </a:r>
          </a:p>
          <a:p>
            <a:pPr algn="l"/>
            <a:r>
              <a:rPr sz="1700" b="0">
                <a:solidFill>
                  <a:srgbClr val="FFFFFF"/>
                </a:solidFill>
                <a:latin typeface="Calibri"/>
              </a:rPr>
              <a:t>the answer completes the draft</a:t>
            </a:r>
          </a:p>
        </p:txBody>
      </p:sp>
      <p:sp>
        <p:nvSpPr>
          <p:cNvPr id="8" name="Rounded Rectangle 7"/>
          <p:cNvSpPr/>
          <p:nvPr/>
        </p:nvSpPr>
        <p:spPr>
          <a:xfrm>
            <a:off x="548640" y="21488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Correct</a:t>
            </a:r>
          </a:p>
        </p:txBody>
      </p:sp>
      <p:sp>
        <p:nvSpPr>
          <p:cNvPr id="9" name="Rounded Rectangle 8"/>
          <p:cNvSpPr/>
          <p:nvPr/>
        </p:nvSpPr>
        <p:spPr>
          <a:xfrm>
            <a:off x="2286000" y="21488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"actually make it 40"</a:t>
            </a:r>
          </a:p>
        </p:txBody>
      </p:sp>
      <p:sp>
        <p:nvSpPr>
          <p:cNvPr id="10" name="Rounded Rectangle 9"/>
          <p:cNvSpPr/>
          <p:nvPr/>
        </p:nvSpPr>
        <p:spPr>
          <a:xfrm>
            <a:off x="6492240" y="21488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old action rejected; a NEW action is</a:t>
            </a:r>
          </a:p>
          <a:p>
            <a:pPr algn="l"/>
            <a:r>
              <a:rPr sz="1700" b="0">
                <a:solidFill>
                  <a:srgbClr val="FFFFFF"/>
                </a:solidFill>
                <a:latin typeface="Calibri"/>
              </a:rPr>
              <a:t>re-simulated and re-checked (new hash)</a:t>
            </a:r>
          </a:p>
        </p:txBody>
      </p:sp>
      <p:sp>
        <p:nvSpPr>
          <p:cNvPr id="11" name="Rounded Rectangle 10"/>
          <p:cNvSpPr/>
          <p:nvPr/>
        </p:nvSpPr>
        <p:spPr>
          <a:xfrm>
            <a:off x="548640" y="30632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Cancel</a:t>
            </a:r>
          </a:p>
        </p:txBody>
      </p:sp>
      <p:sp>
        <p:nvSpPr>
          <p:cNvPr id="12" name="Rounded Rectangle 11"/>
          <p:cNvSpPr/>
          <p:nvPr/>
        </p:nvSpPr>
        <p:spPr>
          <a:xfrm>
            <a:off x="2286000" y="30632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"cancel that" · "cancel everything"</a:t>
            </a:r>
          </a:p>
        </p:txBody>
      </p:sp>
      <p:sp>
        <p:nvSpPr>
          <p:cNvPr id="13" name="Rounded Rectangle 12"/>
          <p:cNvSpPr/>
          <p:nvPr/>
        </p:nvSpPr>
        <p:spPr>
          <a:xfrm>
            <a:off x="6492240" y="30632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pending actions rejected by user; nothing executes</a:t>
            </a:r>
          </a:p>
        </p:txBody>
      </p:sp>
      <p:sp>
        <p:nvSpPr>
          <p:cNvPr id="14" name="Rounded Rectangle 13"/>
          <p:cNvSpPr/>
          <p:nvPr/>
        </p:nvSpPr>
        <p:spPr>
          <a:xfrm>
            <a:off x="548640" y="3977639"/>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Ask</a:t>
            </a:r>
          </a:p>
        </p:txBody>
      </p:sp>
      <p:sp>
        <p:nvSpPr>
          <p:cNvPr id="15" name="Rounded Rectangle 14"/>
          <p:cNvSpPr/>
          <p:nvPr/>
        </p:nvSpPr>
        <p:spPr>
          <a:xfrm>
            <a:off x="2286000" y="3977639"/>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 I afford 300 to mom after my bills?"</a:t>
            </a:r>
          </a:p>
        </p:txBody>
      </p:sp>
      <p:sp>
        <p:nvSpPr>
          <p:cNvPr id="16" name="Rounded Rectangle 15"/>
          <p:cNvSpPr/>
          <p:nvPr/>
        </p:nvSpPr>
        <p:spPr>
          <a:xfrm>
            <a:off x="6492240" y="3977639"/>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simulation only: projection + answer;</a:t>
            </a:r>
          </a:p>
          <a:p>
            <a:pPr algn="l"/>
            <a:r>
              <a:rPr sz="1700" b="0">
                <a:solidFill>
                  <a:srgbClr val="FFFFFF"/>
                </a:solidFill>
                <a:latin typeface="Calibri"/>
              </a:rPr>
              <a:t>never proposes a payment</a:t>
            </a:r>
          </a:p>
        </p:txBody>
      </p:sp>
      <p:sp>
        <p:nvSpPr>
          <p:cNvPr id="17" name="Rounded Rectangle 16"/>
          <p:cNvSpPr/>
          <p:nvPr/>
        </p:nvSpPr>
        <p:spPr>
          <a:xfrm>
            <a:off x="548640" y="48920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Verify</a:t>
            </a:r>
          </a:p>
        </p:txBody>
      </p:sp>
      <p:sp>
        <p:nvSpPr>
          <p:cNvPr id="18" name="Rounded Rectangle 17"/>
          <p:cNvSpPr/>
          <p:nvPr/>
        </p:nvSpPr>
        <p:spPr>
          <a:xfrm>
            <a:off x="2286000" y="48920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"Verify chain against my copy"</a:t>
            </a:r>
          </a:p>
        </p:txBody>
      </p:sp>
      <p:sp>
        <p:nvSpPr>
          <p:cNvPr id="19" name="Rounded Rectangle 18"/>
          <p:cNvSpPr/>
          <p:nvPr/>
        </p:nvSpPr>
        <p:spPr>
          <a:xfrm>
            <a:off x="6492240" y="48920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signed anchor detects a truncated</a:t>
            </a:r>
          </a:p>
          <a:p>
            <a:pPr algn="l"/>
            <a:r>
              <a:rPr sz="1700" b="0">
                <a:solidFill>
                  <a:srgbClr val="FFFFFF"/>
                </a:solidFill>
                <a:latin typeface="Calibri"/>
              </a:rPr>
              <a:t>or rewritten receipt chain</a:t>
            </a:r>
          </a:p>
        </p:txBody>
      </p:sp>
      <p:sp>
        <p:nvSpPr>
          <p:cNvPr id="20" name="TextBox 19"/>
          <p:cNvSpPr txBox="1"/>
          <p:nvPr/>
        </p:nvSpPr>
        <p:spPr>
          <a:xfrm>
            <a:off x="548640" y="5852160"/>
            <a:ext cx="11155680" cy="457200"/>
          </a:xfrm>
          <a:prstGeom prst="rect">
            <a:avLst/>
          </a:prstGeom>
          <a:noFill/>
        </p:spPr>
        <p:txBody>
          <a:bodyPr wrap="square" anchor="t">
            <a:spAutoFit/>
          </a:bodyPr>
          <a:lstStyle/>
          <a:p>
            <a:pPr algn="l"/>
            <a:r>
              <a:rPr sz="1700" b="0">
                <a:solidFill>
                  <a:srgbClr val="B4C0D2"/>
                </a:solidFill>
                <a:latin typeface="Calibri"/>
              </a:rPr>
              <a:t>Nothing is ever modified in place: every change is a new action through the same simulate → policy → confirm path.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4: attack it yourself, 7 of 7 blocked</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8</a:t>
            </a:r>
          </a:p>
        </p:txBody>
      </p:sp>
      <p:pic>
        <p:nvPicPr>
          <p:cNvPr id="5" name="Picture 4" descr="image.png"/>
          <p:cNvPicPr>
            <a:picLocks noChangeAspect="1"/>
          </p:cNvPicPr>
          <p:nvPr/>
        </p:nvPicPr>
        <p:blipFill>
          <a:blip r:embed="rId2"/>
          <a:stretch>
            <a:fillRect/>
          </a:stretch>
        </p:blipFill>
        <p:spPr>
          <a:xfrm>
            <a:off x="502920" y="1188720"/>
            <a:ext cx="6949440" cy="4091445"/>
          </a:xfrm>
          <a:prstGeom prst="rect">
            <a:avLst/>
          </a:prstGeom>
          <a:ln w="31750">
            <a:solidFill>
              <a:srgbClr val="2DD4BF"/>
            </a:solidFill>
          </a:ln>
        </p:spPr>
      </p:pic>
      <p:sp>
        <p:nvSpPr>
          <p:cNvPr id="6" name="Rounded Rectangle 5"/>
          <p:cNvSpPr/>
          <p:nvPr/>
        </p:nvSpPr>
        <p:spPr>
          <a:xfrm>
            <a:off x="7726679" y="118872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7" name="TextBox 6"/>
          <p:cNvSpPr txBox="1"/>
          <p:nvPr/>
        </p:nvSpPr>
        <p:spPr>
          <a:xfrm>
            <a:off x="9052560" y="1243584"/>
            <a:ext cx="3017520" cy="457200"/>
          </a:xfrm>
          <a:prstGeom prst="rect">
            <a:avLst/>
          </a:prstGeom>
          <a:noFill/>
        </p:spPr>
        <p:txBody>
          <a:bodyPr wrap="square" anchor="t">
            <a:spAutoFit/>
          </a:bodyPr>
          <a:lstStyle/>
          <a:p>
            <a:pPr algn="l"/>
            <a:r>
              <a:rPr sz="1800" b="0">
                <a:solidFill>
                  <a:srgbClr val="FFFFFF"/>
                </a:solidFill>
                <a:latin typeface="Calibri"/>
              </a:rPr>
              <a:t>Injected rent invoice</a:t>
            </a:r>
          </a:p>
        </p:txBody>
      </p:sp>
      <p:sp>
        <p:nvSpPr>
          <p:cNvPr id="8" name="Rounded Rectangle 7"/>
          <p:cNvSpPr/>
          <p:nvPr/>
        </p:nvSpPr>
        <p:spPr>
          <a:xfrm>
            <a:off x="7726679" y="1911095"/>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9" name="TextBox 8"/>
          <p:cNvSpPr txBox="1"/>
          <p:nvPr/>
        </p:nvSpPr>
        <p:spPr>
          <a:xfrm>
            <a:off x="9052560" y="1965960"/>
            <a:ext cx="3017520" cy="457200"/>
          </a:xfrm>
          <a:prstGeom prst="rect">
            <a:avLst/>
          </a:prstGeom>
          <a:noFill/>
        </p:spPr>
        <p:txBody>
          <a:bodyPr wrap="square" anchor="t">
            <a:spAutoFit/>
          </a:bodyPr>
          <a:lstStyle/>
          <a:p>
            <a:pPr algn="l"/>
            <a:r>
              <a:rPr sz="1800" b="0">
                <a:solidFill>
                  <a:srgbClr val="FFFFFF"/>
                </a:solidFill>
                <a:latin typeface="Calibri"/>
              </a:rPr>
              <a:t>IBAN substitution in chat</a:t>
            </a:r>
          </a:p>
        </p:txBody>
      </p:sp>
      <p:sp>
        <p:nvSpPr>
          <p:cNvPr id="10" name="Rounded Rectangle 9"/>
          <p:cNvSpPr/>
          <p:nvPr/>
        </p:nvSpPr>
        <p:spPr>
          <a:xfrm>
            <a:off x="7726679" y="2633472"/>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1" name="TextBox 10"/>
          <p:cNvSpPr txBox="1"/>
          <p:nvPr/>
        </p:nvSpPr>
        <p:spPr>
          <a:xfrm>
            <a:off x="9052560" y="2688336"/>
            <a:ext cx="3017520" cy="457200"/>
          </a:xfrm>
          <a:prstGeom prst="rect">
            <a:avLst/>
          </a:prstGeom>
          <a:noFill/>
        </p:spPr>
        <p:txBody>
          <a:bodyPr wrap="square" anchor="t">
            <a:spAutoFit/>
          </a:bodyPr>
          <a:lstStyle/>
          <a:p>
            <a:pPr algn="l"/>
            <a:r>
              <a:rPr sz="1800" b="0">
                <a:solidFill>
                  <a:srgbClr val="FFFFFF"/>
                </a:solidFill>
                <a:latin typeface="Calibri"/>
              </a:rPr>
              <a:t>"Send the maximum"</a:t>
            </a:r>
          </a:p>
        </p:txBody>
      </p:sp>
      <p:sp>
        <p:nvSpPr>
          <p:cNvPr id="12" name="Rounded Rectangle 11"/>
          <p:cNvSpPr/>
          <p:nvPr/>
        </p:nvSpPr>
        <p:spPr>
          <a:xfrm>
            <a:off x="7726679" y="3355848"/>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3" name="TextBox 12"/>
          <p:cNvSpPr txBox="1"/>
          <p:nvPr/>
        </p:nvSpPr>
        <p:spPr>
          <a:xfrm>
            <a:off x="9052560" y="3410712"/>
            <a:ext cx="3017520" cy="457200"/>
          </a:xfrm>
          <a:prstGeom prst="rect">
            <a:avLst/>
          </a:prstGeom>
          <a:noFill/>
        </p:spPr>
        <p:txBody>
          <a:bodyPr wrap="square" anchor="t">
            <a:spAutoFit/>
          </a:bodyPr>
          <a:lstStyle/>
          <a:p>
            <a:pPr algn="l"/>
            <a:r>
              <a:rPr sz="1800" b="0">
                <a:solidFill>
                  <a:srgbClr val="FFFFFF"/>
                </a:solidFill>
                <a:latin typeface="Calibri"/>
              </a:rPr>
              <a:t>Poisoned FX tool output</a:t>
            </a:r>
          </a:p>
        </p:txBody>
      </p:sp>
      <p:sp>
        <p:nvSpPr>
          <p:cNvPr id="14" name="Rounded Rectangle 13"/>
          <p:cNvSpPr/>
          <p:nvPr/>
        </p:nvSpPr>
        <p:spPr>
          <a:xfrm>
            <a:off x="7726679" y="4078224"/>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5" name="TextBox 14"/>
          <p:cNvSpPr txBox="1"/>
          <p:nvPr/>
        </p:nvSpPr>
        <p:spPr>
          <a:xfrm>
            <a:off x="9052560" y="4133087"/>
            <a:ext cx="3017520" cy="457200"/>
          </a:xfrm>
          <a:prstGeom prst="rect">
            <a:avLst/>
          </a:prstGeom>
          <a:noFill/>
        </p:spPr>
        <p:txBody>
          <a:bodyPr wrap="square" anchor="t">
            <a:spAutoFit/>
          </a:bodyPr>
          <a:lstStyle/>
          <a:p>
            <a:pPr algn="l"/>
            <a:r>
              <a:rPr sz="1800" b="0">
                <a:solidFill>
                  <a:srgbClr val="FFFFFF"/>
                </a:solidFill>
                <a:latin typeface="Calibri"/>
              </a:rPr>
              <a:t>Replay (confirm twice)</a:t>
            </a:r>
          </a:p>
        </p:txBody>
      </p:sp>
      <p:sp>
        <p:nvSpPr>
          <p:cNvPr id="16" name="Rounded Rectangle 15"/>
          <p:cNvSpPr/>
          <p:nvPr/>
        </p:nvSpPr>
        <p:spPr>
          <a:xfrm>
            <a:off x="7726679" y="480060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7" name="TextBox 16"/>
          <p:cNvSpPr txBox="1"/>
          <p:nvPr/>
        </p:nvSpPr>
        <p:spPr>
          <a:xfrm>
            <a:off x="9052560" y="4855464"/>
            <a:ext cx="3017520" cy="457200"/>
          </a:xfrm>
          <a:prstGeom prst="rect">
            <a:avLst/>
          </a:prstGeom>
          <a:noFill/>
        </p:spPr>
        <p:txBody>
          <a:bodyPr wrap="square" anchor="t">
            <a:spAutoFit/>
          </a:bodyPr>
          <a:lstStyle/>
          <a:p>
            <a:pPr algn="l"/>
            <a:r>
              <a:rPr sz="1800" b="0">
                <a:solidFill>
                  <a:srgbClr val="FFFFFF"/>
                </a:solidFill>
                <a:latin typeface="Calibri"/>
              </a:rPr>
              <a:t>Structuring: 2,100 in 3 parts</a:t>
            </a:r>
          </a:p>
        </p:txBody>
      </p:sp>
      <p:sp>
        <p:nvSpPr>
          <p:cNvPr id="18" name="Rounded Rectangle 17"/>
          <p:cNvSpPr/>
          <p:nvPr/>
        </p:nvSpPr>
        <p:spPr>
          <a:xfrm>
            <a:off x="7726679" y="5522976"/>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9" name="TextBox 18"/>
          <p:cNvSpPr txBox="1"/>
          <p:nvPr/>
        </p:nvSpPr>
        <p:spPr>
          <a:xfrm>
            <a:off x="9052560" y="5577840"/>
            <a:ext cx="3017520" cy="457200"/>
          </a:xfrm>
          <a:prstGeom prst="rect">
            <a:avLst/>
          </a:prstGeom>
          <a:noFill/>
        </p:spPr>
        <p:txBody>
          <a:bodyPr wrap="square" anchor="t">
            <a:spAutoFit/>
          </a:bodyPr>
          <a:lstStyle/>
          <a:p>
            <a:pPr algn="l"/>
            <a:r>
              <a:rPr sz="1800" b="0">
                <a:solidFill>
                  <a:srgbClr val="FFFFFF"/>
                </a:solidFill>
                <a:latin typeface="Calibri"/>
              </a:rPr>
              <a:t>Sanctioned payee (watchlist)</a:t>
            </a:r>
          </a:p>
        </p:txBody>
      </p:sp>
      <p:sp>
        <p:nvSpPr>
          <p:cNvPr id="20" name="Rounded Rectangle 19"/>
          <p:cNvSpPr/>
          <p:nvPr/>
        </p:nvSpPr>
        <p:spPr>
          <a:xfrm>
            <a:off x="502920" y="5463045"/>
            <a:ext cx="6949440" cy="800594"/>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Each attack on a fresh session; a crash counts as </a:t>
            </a:r>
            <a:r>
              <a:rPr sz="1800" b="1">
                <a:solidFill>
                  <a:srgbClr val="2DD4BF"/>
                </a:solidFill>
                <a:latin typeface="Calibri"/>
              </a:rPr>
              <a:t>NOT blocked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Security: eight controls, only one reads the text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9</a:t>
            </a:r>
          </a:p>
        </p:txBody>
      </p:sp>
      <p:sp>
        <p:nvSpPr>
          <p:cNvPr id="5" name="Rounded Rectangle 4"/>
          <p:cNvSpPr/>
          <p:nvPr/>
        </p:nvSpPr>
        <p:spPr>
          <a:xfrm>
            <a:off x="548640" y="1280160"/>
            <a:ext cx="2624328" cy="64008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Content guard</a:t>
            </a:r>
          </a:p>
        </p:txBody>
      </p:sp>
      <p:sp>
        <p:nvSpPr>
          <p:cNvPr id="6" name="Rounded Rectangle 5"/>
          <p:cNvSpPr/>
          <p:nvPr/>
        </p:nvSpPr>
        <p:spPr>
          <a:xfrm>
            <a:off x="548640" y="1920239"/>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quarantines injected documents; text stays data</a:t>
            </a:r>
          </a:p>
        </p:txBody>
      </p:sp>
      <p:sp>
        <p:nvSpPr>
          <p:cNvPr id="7" name="Rounded Rectangle 6"/>
          <p:cNvSpPr/>
          <p:nvPr/>
        </p:nvSpPr>
        <p:spPr>
          <a:xfrm>
            <a:off x="3355848"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Registry-only IBANs</a:t>
            </a:r>
          </a:p>
        </p:txBody>
      </p:sp>
      <p:sp>
        <p:nvSpPr>
          <p:cNvPr id="8" name="Rounded Rectangle 7"/>
          <p:cNvSpPr/>
          <p:nvPr/>
        </p:nvSpPr>
        <p:spPr>
          <a:xfrm>
            <a:off x="3355848" y="1920239"/>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no IBAN from a document or chat is ever paid</a:t>
            </a:r>
          </a:p>
        </p:txBody>
      </p:sp>
      <p:sp>
        <p:nvSpPr>
          <p:cNvPr id="9" name="Rounded Rectangle 8"/>
          <p:cNvSpPr/>
          <p:nvPr/>
        </p:nvSpPr>
        <p:spPr>
          <a:xfrm>
            <a:off x="6163055"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Hash-bound confirm</a:t>
            </a:r>
          </a:p>
        </p:txBody>
      </p:sp>
      <p:sp>
        <p:nvSpPr>
          <p:cNvPr id="10" name="Rounded Rectangle 9"/>
          <p:cNvSpPr/>
          <p:nvPr/>
        </p:nvSpPr>
        <p:spPr>
          <a:xfrm>
            <a:off x="6163055" y="1920239"/>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approval tied to params hash; else param_tamper</a:t>
            </a:r>
          </a:p>
        </p:txBody>
      </p:sp>
      <p:sp>
        <p:nvSpPr>
          <p:cNvPr id="11" name="Rounded Rectangle 10"/>
          <p:cNvSpPr/>
          <p:nvPr/>
        </p:nvSpPr>
        <p:spPr>
          <a:xfrm>
            <a:off x="8970263"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Step-up + lockout</a:t>
            </a:r>
          </a:p>
        </p:txBody>
      </p:sp>
      <p:sp>
        <p:nvSpPr>
          <p:cNvPr id="12" name="Rounded Rectangle 11"/>
          <p:cNvSpPr/>
          <p:nvPr/>
        </p:nvSpPr>
        <p:spPr>
          <a:xfrm>
            <a:off x="8970263" y="1920239"/>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one-time code; locked after 3 wrong codes</a:t>
            </a:r>
          </a:p>
        </p:txBody>
      </p:sp>
      <p:sp>
        <p:nvSpPr>
          <p:cNvPr id="13" name="Rounded Rectangle 12"/>
          <p:cNvSpPr/>
          <p:nvPr/>
        </p:nvSpPr>
        <p:spPr>
          <a:xfrm>
            <a:off x="548640" y="352044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Idempotent execution</a:t>
            </a:r>
          </a:p>
        </p:txBody>
      </p:sp>
      <p:sp>
        <p:nvSpPr>
          <p:cNvPr id="14" name="Rounded Rectangle 13"/>
          <p:cNvSpPr/>
          <p:nvPr/>
        </p:nvSpPr>
        <p:spPr>
          <a:xfrm>
            <a:off x="548640" y="4160520"/>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replayed confirmation never pays twice</a:t>
            </a:r>
          </a:p>
        </p:txBody>
      </p:sp>
      <p:sp>
        <p:nvSpPr>
          <p:cNvPr id="15" name="Rounded Rectangle 14"/>
          <p:cNvSpPr/>
          <p:nvPr/>
        </p:nvSpPr>
        <p:spPr>
          <a:xfrm>
            <a:off x="3355848" y="352044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Tenant isolation</a:t>
            </a:r>
          </a:p>
        </p:txBody>
      </p:sp>
      <p:sp>
        <p:nvSpPr>
          <p:cNvPr id="16" name="Rounded Rectangle 15"/>
          <p:cNvSpPr/>
          <p:nvPr/>
        </p:nvSpPr>
        <p:spPr>
          <a:xfrm>
            <a:off x="3355848" y="4160520"/>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R4: other customers' data never visible</a:t>
            </a:r>
          </a:p>
        </p:txBody>
      </p:sp>
      <p:sp>
        <p:nvSpPr>
          <p:cNvPr id="17" name="Rounded Rectangle 16"/>
          <p:cNvSpPr/>
          <p:nvPr/>
        </p:nvSpPr>
        <p:spPr>
          <a:xfrm>
            <a:off x="6163055" y="3520440"/>
            <a:ext cx="2624328" cy="64008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Structuring (AML)</a:t>
            </a:r>
          </a:p>
        </p:txBody>
      </p:sp>
      <p:sp>
        <p:nvSpPr>
          <p:cNvPr id="18" name="Rounded Rectangle 17"/>
          <p:cNvSpPr/>
          <p:nvPr/>
        </p:nvSpPr>
        <p:spPr>
          <a:xfrm>
            <a:off x="6163055" y="4160520"/>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same payee &gt; 1,500 EUR in 24 h: step-up</a:t>
            </a:r>
          </a:p>
        </p:txBody>
      </p:sp>
      <p:sp>
        <p:nvSpPr>
          <p:cNvPr id="19" name="Rounded Rectangle 18"/>
          <p:cNvSpPr/>
          <p:nvPr/>
        </p:nvSpPr>
        <p:spPr>
          <a:xfrm>
            <a:off x="8970263" y="3520440"/>
            <a:ext cx="2624328"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Sanctions screen</a:t>
            </a:r>
          </a:p>
        </p:txBody>
      </p:sp>
      <p:sp>
        <p:nvSpPr>
          <p:cNvPr id="20" name="Rounded Rectangle 19"/>
          <p:cNvSpPr/>
          <p:nvPr/>
        </p:nvSpPr>
        <p:spPr>
          <a:xfrm>
            <a:off x="8970263" y="4160520"/>
            <a:ext cx="2624328" cy="14173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watchlist names + IBANs, look-alikes folded: deny</a:t>
            </a:r>
          </a:p>
        </p:txBody>
      </p:sp>
      <p:sp>
        <p:nvSpPr>
          <p:cNvPr id="21" name="Rounded Rectangle 20"/>
          <p:cNvSpPr/>
          <p:nvPr/>
        </p:nvSpPr>
        <p:spPr>
          <a:xfrm>
            <a:off x="548640" y="5760720"/>
            <a:ext cx="11109960" cy="50292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Advisory detection first; </a:t>
            </a:r>
            <a:r>
              <a:rPr sz="1800" b="1">
                <a:solidFill>
                  <a:srgbClr val="2DD4BF"/>
                </a:solidFill>
                <a:latin typeface="Calibri"/>
              </a:rPr>
              <a:t>authorisation never depends on detecting the attack.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Risk matrix: 13 named rules on every payment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10</a:t>
            </a:r>
          </a:p>
        </p:txBody>
      </p:sp>
      <p:sp>
        <p:nvSpPr>
          <p:cNvPr id="5" name="Rounded Rectangle 4"/>
          <p:cNvSpPr/>
          <p:nvPr/>
        </p:nvSpPr>
        <p:spPr>
          <a:xfrm>
            <a:off x="548640" y="1280160"/>
            <a:ext cx="914400" cy="91440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R0</a:t>
            </a:r>
          </a:p>
        </p:txBody>
      </p:sp>
      <p:sp>
        <p:nvSpPr>
          <p:cNvPr id="6" name="Rounded Rectangle 5"/>
          <p:cNvSpPr/>
          <p:nvPr/>
        </p:nvSpPr>
        <p:spPr>
          <a:xfrm>
            <a:off x="1554480" y="1280160"/>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read-only</a:t>
            </a:r>
          </a:p>
        </p:txBody>
      </p:sp>
      <p:sp>
        <p:nvSpPr>
          <p:cNvPr id="7" name="Rounded Rectangle 6"/>
          <p:cNvSpPr/>
          <p:nvPr/>
        </p:nvSpPr>
        <p:spPr>
          <a:xfrm>
            <a:off x="6172200" y="1280160"/>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B4C0D2"/>
                </a:solidFill>
                <a:latin typeface="Calibri"/>
              </a:rPr>
              <a:t>allow</a:t>
            </a:r>
          </a:p>
        </p:txBody>
      </p:sp>
      <p:sp>
        <p:nvSpPr>
          <p:cNvPr id="8" name="Rounded Rectangle 7"/>
          <p:cNvSpPr/>
          <p:nvPr/>
        </p:nvSpPr>
        <p:spPr>
          <a:xfrm>
            <a:off x="548640" y="2304288"/>
            <a:ext cx="914400" cy="91440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R2</a:t>
            </a:r>
          </a:p>
        </p:txBody>
      </p:sp>
      <p:sp>
        <p:nvSpPr>
          <p:cNvPr id="9" name="Rounded Rectangle 8"/>
          <p:cNvSpPr/>
          <p:nvPr/>
        </p:nvSpPr>
        <p:spPr>
          <a:xfrm>
            <a:off x="1554480" y="2304288"/>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older than 72 h, ≤ 1,500 EUR;</a:t>
            </a:r>
          </a:p>
          <a:p>
            <a:pPr algn="l"/>
            <a:r>
              <a:rPr sz="1700" b="0">
                <a:solidFill>
                  <a:srgbClr val="FFFFFF"/>
                </a:solidFill>
                <a:latin typeface="Calibri"/>
              </a:rPr>
              <a:t>FX buy ≤ 2,500 EUR</a:t>
            </a:r>
          </a:p>
        </p:txBody>
      </p:sp>
      <p:sp>
        <p:nvSpPr>
          <p:cNvPr id="10" name="Rounded Rectangle 9"/>
          <p:cNvSpPr/>
          <p:nvPr/>
        </p:nvSpPr>
        <p:spPr>
          <a:xfrm>
            <a:off x="6172200" y="2304288"/>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22C55E"/>
                </a:solidFill>
                <a:latin typeface="Calibri"/>
              </a:rPr>
              <a:t>one tap</a:t>
            </a:r>
          </a:p>
        </p:txBody>
      </p:sp>
      <p:sp>
        <p:nvSpPr>
          <p:cNvPr id="11" name="Rounded Rectangle 10"/>
          <p:cNvSpPr/>
          <p:nvPr/>
        </p:nvSpPr>
        <p:spPr>
          <a:xfrm>
            <a:off x="548640" y="3328416"/>
            <a:ext cx="914400" cy="91440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R3</a:t>
            </a:r>
          </a:p>
        </p:txBody>
      </p:sp>
      <p:sp>
        <p:nvSpPr>
          <p:cNvPr id="12" name="Rounded Rectangle 11"/>
          <p:cNvSpPr/>
          <p:nvPr/>
        </p:nvSpPr>
        <p:spPr>
          <a:xfrm>
            <a:off x="1554480" y="3328416"/>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&lt; 72 h, &gt; 1,500 EUR, FX &gt; 2,500,</a:t>
            </a:r>
          </a:p>
          <a:p>
            <a:pPr algn="l"/>
            <a:r>
              <a:rPr sz="1700" b="0">
                <a:solidFill>
                  <a:srgbClr val="FFFFFF"/>
                </a:solidFill>
                <a:latin typeface="Calibri"/>
              </a:rPr>
              <a:t>add payee, structuring</a:t>
            </a:r>
          </a:p>
        </p:txBody>
      </p:sp>
      <p:sp>
        <p:nvSpPr>
          <p:cNvPr id="13" name="Rounded Rectangle 12"/>
          <p:cNvSpPr/>
          <p:nvPr/>
        </p:nvSpPr>
        <p:spPr>
          <a:xfrm>
            <a:off x="6172200" y="3328416"/>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59E0B"/>
                </a:solidFill>
                <a:latin typeface="Calibri"/>
              </a:rPr>
              <a:t>one-time code</a:t>
            </a:r>
          </a:p>
        </p:txBody>
      </p:sp>
      <p:sp>
        <p:nvSpPr>
          <p:cNvPr id="14" name="Rounded Rectangle 13"/>
          <p:cNvSpPr/>
          <p:nvPr/>
        </p:nvSpPr>
        <p:spPr>
          <a:xfrm>
            <a:off x="548640" y="4352544"/>
            <a:ext cx="914400" cy="169164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R4</a:t>
            </a:r>
          </a:p>
        </p:txBody>
      </p:sp>
      <p:sp>
        <p:nvSpPr>
          <p:cNvPr id="15" name="Rounded Rectangle 14"/>
          <p:cNvSpPr/>
          <p:nvPr/>
        </p:nvSpPr>
        <p:spPr>
          <a:xfrm>
            <a:off x="1554480" y="4352544"/>
            <a:ext cx="452628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infeasible, unregistered or blocked payee, IBAN ≠ registry, other tenant, reserve floor, &gt; 4,000 per payment, &gt; 5,000 per day, untrusted origin, sanctioned</a:t>
            </a:r>
          </a:p>
        </p:txBody>
      </p:sp>
      <p:sp>
        <p:nvSpPr>
          <p:cNvPr id="16" name="Rounded Rectangle 15"/>
          <p:cNvSpPr/>
          <p:nvPr/>
        </p:nvSpPr>
        <p:spPr>
          <a:xfrm>
            <a:off x="6172200" y="4352544"/>
            <a:ext cx="1691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EF4444"/>
                </a:solidFill>
                <a:latin typeface="Calibri"/>
              </a:rPr>
              <a:t>DENY</a:t>
            </a:r>
          </a:p>
          <a:p>
            <a:pPr algn="ctr"/>
            <a:r>
              <a:rPr sz="1700" b="1">
                <a:solidFill>
                  <a:srgbClr val="EF4444"/>
                </a:solidFill>
                <a:latin typeface="Calibri"/>
              </a:rPr>
              <a:t>no override</a:t>
            </a:r>
          </a:p>
        </p:txBody>
      </p:sp>
      <p:sp>
        <p:nvSpPr>
          <p:cNvPr id="17" name="TextBox 16"/>
          <p:cNvSpPr txBox="1"/>
          <p:nvPr/>
        </p:nvSpPr>
        <p:spPr>
          <a:xfrm>
            <a:off x="548640" y="6199632"/>
            <a:ext cx="7315200" cy="365760"/>
          </a:xfrm>
          <a:prstGeom prst="rect">
            <a:avLst/>
          </a:prstGeom>
          <a:noFill/>
        </p:spPr>
        <p:txBody>
          <a:bodyPr wrap="square" anchor="t">
            <a:spAutoFit/>
          </a:bodyPr>
          <a:lstStyle/>
          <a:p>
            <a:pPr algn="l"/>
            <a:r>
              <a:rPr sz="1600" b="0">
                <a:solidFill>
                  <a:srgbClr val="B4C0D2"/>
                </a:solidFill>
                <a:latin typeface="Calibri"/>
              </a:rPr>
              <a:t>R1 (reversible) is reserved; no v1 action uses it.</a:t>
            </a:r>
          </a:p>
        </p:txBody>
      </p:sp>
      <p:sp>
        <p:nvSpPr>
          <p:cNvPr id="18" name="Rounded Rectangle 17"/>
          <p:cNvSpPr/>
          <p:nvPr/>
        </p:nvSpPr>
        <p:spPr>
          <a:xfrm>
            <a:off x="8183879" y="1280160"/>
            <a:ext cx="3474720" cy="49377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21040" y="1353312"/>
            <a:ext cx="3291840" cy="411480"/>
          </a:xfrm>
          <a:prstGeom prst="rect">
            <a:avLst/>
          </a:prstGeom>
          <a:noFill/>
        </p:spPr>
        <p:txBody>
          <a:bodyPr wrap="square" anchor="t">
            <a:spAutoFit/>
          </a:bodyPr>
          <a:lstStyle/>
          <a:p>
            <a:pPr algn="l"/>
            <a:r>
              <a:rPr sz="1900" b="1">
                <a:solidFill>
                  <a:srgbClr val="2DD4BF"/>
                </a:solidFill>
                <a:latin typeface="Calibri"/>
              </a:rPr>
              <a:t>One payment: 13 rules</a:t>
            </a:r>
          </a:p>
        </p:txBody>
      </p:sp>
      <p:sp>
        <p:nvSpPr>
          <p:cNvPr id="20" name="TextBox 19"/>
          <p:cNvSpPr txBox="1"/>
          <p:nvPr/>
        </p:nvSpPr>
        <p:spPr>
          <a:xfrm>
            <a:off x="8321040" y="1783080"/>
            <a:ext cx="3291840" cy="4389120"/>
          </a:xfrm>
          <a:prstGeom prst="rect">
            <a:avLst/>
          </a:prstGeom>
          <a:noFill/>
        </p:spPr>
        <p:txBody>
          <a:bodyPr wrap="square" anchor="t">
            <a:spAutoFit/>
          </a:bodyPr>
          <a:lstStyle/>
          <a:p>
            <a:pPr algn="l"/>
            <a:r>
              <a:rPr sz="1600" b="0">
                <a:solidFill>
                  <a:srgbClr val="FFFFFF"/>
                </a:solidFill>
                <a:latin typeface="Calibri"/>
              </a:rPr>
              <a:t>R4  SIM_FEASIBLE</a:t>
            </a:r>
          </a:p>
          <a:p>
            <a:r>
              <a:rPr sz="1600" b="0">
                <a:solidFill>
                  <a:srgbClr val="FFFFFF"/>
                </a:solidFill>
                <a:latin typeface="Calibri"/>
              </a:rPr>
              <a:t>R4  BENEFICIARY_REGISTERED</a:t>
            </a:r>
          </a:p>
          <a:p>
            <a:r>
              <a:rPr sz="1600" b="0">
                <a:solidFill>
                  <a:srgbClr val="FFFFFF"/>
                </a:solidFill>
                <a:latin typeface="Calibri"/>
              </a:rPr>
              <a:t>R4  BENEFICIARY_NOT_BLOCKED</a:t>
            </a:r>
          </a:p>
          <a:p>
            <a:r>
              <a:rPr sz="1600" b="0">
                <a:solidFill>
                  <a:srgbClr val="FFFFFF"/>
                </a:solidFill>
                <a:latin typeface="Calibri"/>
              </a:rPr>
              <a:t>R4  IBAN_MATCHES_REGISTRY</a:t>
            </a:r>
          </a:p>
          <a:p>
            <a:r>
              <a:rPr sz="1600" b="0">
                <a:solidFill>
                  <a:srgbClr val="FFFFFF"/>
                </a:solidFill>
                <a:latin typeface="Calibri"/>
              </a:rPr>
              <a:t>R4  TENANT_ISOLATION</a:t>
            </a:r>
          </a:p>
          <a:p>
            <a:r>
              <a:rPr sz="1600" b="0">
                <a:solidFill>
                  <a:srgbClr val="FFFFFF"/>
                </a:solidFill>
                <a:latin typeface="Calibri"/>
              </a:rPr>
              <a:t>R4  RESERVE_FLOOR</a:t>
            </a:r>
          </a:p>
          <a:p>
            <a:r>
              <a:rPr sz="1600" b="0">
                <a:solidFill>
                  <a:srgbClr val="FFFFFF"/>
                </a:solidFill>
                <a:latin typeface="Calibri"/>
              </a:rPr>
              <a:t>R4  MAX_SINGLE_PAYMENT</a:t>
            </a:r>
          </a:p>
          <a:p>
            <a:r>
              <a:rPr sz="1600" b="0">
                <a:solidFill>
                  <a:srgbClr val="FFFFFF"/>
                </a:solidFill>
                <a:latin typeface="Calibri"/>
              </a:rPr>
              <a:t>R4  DAILY_LIMIT</a:t>
            </a:r>
          </a:p>
          <a:p>
            <a:r>
              <a:rPr sz="1600" b="0">
                <a:solidFill>
                  <a:srgbClr val="FFFFFF"/>
                </a:solidFill>
                <a:latin typeface="Calibri"/>
              </a:rPr>
              <a:t>R4  UNTRUSTED_ORIGIN</a:t>
            </a:r>
          </a:p>
          <a:p>
            <a:r>
              <a:rPr sz="1600" b="0">
                <a:solidFill>
                  <a:srgbClr val="FFFFFF"/>
                </a:solidFill>
                <a:latin typeface="Calibri"/>
              </a:rPr>
              <a:t>R4  SANCTIONS_SCREEN</a:t>
            </a:r>
          </a:p>
          <a:p>
            <a:r>
              <a:rPr sz="1600" b="1">
                <a:solidFill>
                  <a:srgbClr val="F59E0B"/>
                </a:solidFill>
                <a:latin typeface="Calibri"/>
              </a:rPr>
              <a:t>R3  BENEFICIARY_AGE</a:t>
            </a:r>
          </a:p>
          <a:p>
            <a:r>
              <a:rPr sz="1600" b="1">
                <a:solidFill>
                  <a:srgbClr val="F59E0B"/>
                </a:solidFill>
                <a:latin typeface="Calibri"/>
              </a:rPr>
              <a:t>R3  AMOUNT_TIER</a:t>
            </a:r>
          </a:p>
          <a:p>
            <a:r>
              <a:rPr sz="1600" b="1">
                <a:solidFill>
                  <a:srgbClr val="F59E0B"/>
                </a:solidFill>
                <a:latin typeface="Calibri"/>
              </a:rPr>
              <a:t>R3  STRUCTURING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Evaluation: an independent, blind test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11</a:t>
            </a:r>
          </a:p>
        </p:txBody>
      </p:sp>
      <p:sp>
        <p:nvSpPr>
          <p:cNvPr id="5" name="TextBox 4"/>
          <p:cNvSpPr txBox="1"/>
          <p:nvPr/>
        </p:nvSpPr>
        <p:spPr>
          <a:xfrm>
            <a:off x="548640" y="1024128"/>
            <a:ext cx="11155680" cy="685800"/>
          </a:xfrm>
          <a:prstGeom prst="rect">
            <a:avLst/>
          </a:prstGeom>
          <a:noFill/>
        </p:spPr>
        <p:txBody>
          <a:bodyPr wrap="square" anchor="t">
            <a:spAutoFit/>
          </a:bodyPr>
          <a:lstStyle/>
          <a:p>
            <a:pPr algn="l"/>
            <a:r>
              <a:rPr sz="1600" b="1">
                <a:solidFill>
                  <a:srgbClr val="2DD4BF"/>
                </a:solidFill>
                <a:latin typeface="Calibri"/>
              </a:rPr>
              <a:t>Protocol:</a:t>
            </a:r>
            <a:r>
              <a:rPr sz="1600" b="0">
                <a:solidFill>
                  <a:srgbClr val="B4C0D2"/>
                </a:solidFill>
                <a:latin typeface="Calibri"/>
              </a:rPr>
              <a:t> independent tester, did not read guard, parser or policy code; 105 cases written before the first run; results frozen in commit 977b936 before any fix. Offline rules parser.</a:t>
            </a:r>
          </a:p>
        </p:txBody>
      </p:sp>
      <p:sp>
        <p:nvSpPr>
          <p:cNvPr id="6" name="Rounded Rectangle 5"/>
          <p:cNvSpPr/>
          <p:nvPr/>
        </p:nvSpPr>
        <p:spPr>
          <a:xfrm>
            <a:off x="548640" y="1783080"/>
            <a:ext cx="41605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48640" y="1828800"/>
            <a:ext cx="4160520" cy="914400"/>
          </a:xfrm>
          <a:prstGeom prst="rect">
            <a:avLst/>
          </a:prstGeom>
          <a:noFill/>
        </p:spPr>
        <p:txBody>
          <a:bodyPr wrap="square" anchor="t">
            <a:spAutoFit/>
          </a:bodyPr>
          <a:lstStyle/>
          <a:p>
            <a:pPr algn="ctr"/>
            <a:r>
              <a:rPr sz="5400" b="1">
                <a:solidFill>
                  <a:srgbClr val="2DD4BF"/>
                </a:solidFill>
                <a:latin typeface="Calibri"/>
              </a:rPr>
              <a:t>69/70</a:t>
            </a:r>
          </a:p>
        </p:txBody>
      </p:sp>
      <p:sp>
        <p:nvSpPr>
          <p:cNvPr id="8" name="TextBox 7"/>
          <p:cNvSpPr txBox="1"/>
          <p:nvPr/>
        </p:nvSpPr>
        <p:spPr>
          <a:xfrm>
            <a:off x="548640" y="2743200"/>
            <a:ext cx="4160520" cy="411480"/>
          </a:xfrm>
          <a:prstGeom prst="rect">
            <a:avLst/>
          </a:prstGeom>
          <a:noFill/>
        </p:spPr>
        <p:txBody>
          <a:bodyPr wrap="square" anchor="t">
            <a:spAutoFit/>
          </a:bodyPr>
          <a:lstStyle/>
          <a:p>
            <a:pPr algn="ctr"/>
            <a:r>
              <a:rPr sz="2000" b="1">
                <a:solidFill>
                  <a:srgbClr val="FFFFFF"/>
                </a:solidFill>
                <a:latin typeface="Calibri"/>
              </a:rPr>
              <a:t>attacks blocked · 98.6%</a:t>
            </a:r>
          </a:p>
        </p:txBody>
      </p:sp>
      <p:sp>
        <p:nvSpPr>
          <p:cNvPr id="9" name="TextBox 8"/>
          <p:cNvSpPr txBox="1"/>
          <p:nvPr/>
        </p:nvSpPr>
        <p:spPr>
          <a:xfrm>
            <a:off x="548640" y="3154680"/>
            <a:ext cx="4160520" cy="411480"/>
          </a:xfrm>
          <a:prstGeom prst="rect">
            <a:avLst/>
          </a:prstGeom>
          <a:noFill/>
        </p:spPr>
        <p:txBody>
          <a:bodyPr wrap="square" anchor="t">
            <a:spAutoFit/>
          </a:bodyPr>
          <a:lstStyle/>
          <a:p>
            <a:pPr algn="ctr"/>
            <a:r>
              <a:rPr sz="1800" b="0">
                <a:solidFill>
                  <a:srgbClr val="B4C0D2"/>
                </a:solidFill>
                <a:latin typeface="Calibri"/>
              </a:rPr>
              <a:t>95% CI 92.3–99.7</a:t>
            </a:r>
          </a:p>
        </p:txBody>
      </p:sp>
      <p:sp>
        <p:nvSpPr>
          <p:cNvPr id="10" name="Rounded Rectangle 9"/>
          <p:cNvSpPr/>
          <p:nvPr/>
        </p:nvSpPr>
        <p:spPr>
          <a:xfrm>
            <a:off x="4800599" y="1783080"/>
            <a:ext cx="32461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800599" y="1828800"/>
            <a:ext cx="3246120" cy="914400"/>
          </a:xfrm>
          <a:prstGeom prst="rect">
            <a:avLst/>
          </a:prstGeom>
          <a:noFill/>
        </p:spPr>
        <p:txBody>
          <a:bodyPr wrap="square" anchor="t">
            <a:spAutoFit/>
          </a:bodyPr>
          <a:lstStyle/>
          <a:p>
            <a:pPr algn="ctr"/>
            <a:r>
              <a:rPr sz="5400" b="1">
                <a:solidFill>
                  <a:srgbClr val="2DD4BF"/>
                </a:solidFill>
                <a:latin typeface="Calibri"/>
              </a:rPr>
              <a:t>15/15</a:t>
            </a:r>
          </a:p>
        </p:txBody>
      </p:sp>
      <p:sp>
        <p:nvSpPr>
          <p:cNvPr id="12" name="TextBox 11"/>
          <p:cNvSpPr txBox="1"/>
          <p:nvPr/>
        </p:nvSpPr>
        <p:spPr>
          <a:xfrm>
            <a:off x="4800599" y="2743200"/>
            <a:ext cx="3246120" cy="411480"/>
          </a:xfrm>
          <a:prstGeom prst="rect">
            <a:avLst/>
          </a:prstGeom>
          <a:noFill/>
        </p:spPr>
        <p:txBody>
          <a:bodyPr wrap="square" anchor="t">
            <a:spAutoFit/>
          </a:bodyPr>
          <a:lstStyle/>
          <a:p>
            <a:pPr algn="ctr"/>
            <a:r>
              <a:rPr sz="2000" b="1">
                <a:solidFill>
                  <a:srgbClr val="FFFFFF"/>
                </a:solidFill>
                <a:latin typeface="Calibri"/>
              </a:rPr>
              <a:t>multi-turn attacks</a:t>
            </a:r>
          </a:p>
        </p:txBody>
      </p:sp>
      <p:sp>
        <p:nvSpPr>
          <p:cNvPr id="13" name="TextBox 12"/>
          <p:cNvSpPr txBox="1"/>
          <p:nvPr/>
        </p:nvSpPr>
        <p:spPr>
          <a:xfrm>
            <a:off x="4800599" y="3154680"/>
            <a:ext cx="3246120" cy="411480"/>
          </a:xfrm>
          <a:prstGeom prst="rect">
            <a:avLst/>
          </a:prstGeom>
          <a:noFill/>
        </p:spPr>
        <p:txBody>
          <a:bodyPr wrap="square" anchor="t">
            <a:spAutoFit/>
          </a:bodyPr>
          <a:lstStyle/>
          <a:p>
            <a:pPr algn="ctr"/>
            <a:r>
              <a:rPr sz="1800" b="0">
                <a:solidFill>
                  <a:srgbClr val="B4C0D2"/>
                </a:solidFill>
                <a:latin typeface="Calibri"/>
              </a:rPr>
              <a:t>95% CI 79.6–100</a:t>
            </a:r>
          </a:p>
        </p:txBody>
      </p:sp>
      <p:sp>
        <p:nvSpPr>
          <p:cNvPr id="14" name="Rounded Rectangle 13"/>
          <p:cNvSpPr/>
          <p:nvPr/>
        </p:nvSpPr>
        <p:spPr>
          <a:xfrm>
            <a:off x="8138159" y="1783080"/>
            <a:ext cx="352044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38159" y="1828800"/>
            <a:ext cx="3520440" cy="914400"/>
          </a:xfrm>
          <a:prstGeom prst="rect">
            <a:avLst/>
          </a:prstGeom>
          <a:noFill/>
        </p:spPr>
        <p:txBody>
          <a:bodyPr wrap="square" anchor="t">
            <a:spAutoFit/>
          </a:bodyPr>
          <a:lstStyle/>
          <a:p>
            <a:pPr algn="ctr"/>
            <a:r>
              <a:rPr sz="5400" b="1">
                <a:solidFill>
                  <a:srgbClr val="2DD4BF"/>
                </a:solidFill>
                <a:latin typeface="Calibri"/>
              </a:rPr>
              <a:t>24/30</a:t>
            </a:r>
          </a:p>
        </p:txBody>
      </p:sp>
      <p:sp>
        <p:nvSpPr>
          <p:cNvPr id="16" name="TextBox 15"/>
          <p:cNvSpPr txBox="1"/>
          <p:nvPr/>
        </p:nvSpPr>
        <p:spPr>
          <a:xfrm>
            <a:off x="8138159" y="2743200"/>
            <a:ext cx="3520440" cy="411480"/>
          </a:xfrm>
          <a:prstGeom prst="rect">
            <a:avLst/>
          </a:prstGeom>
          <a:noFill/>
        </p:spPr>
        <p:txBody>
          <a:bodyPr wrap="square" anchor="t">
            <a:spAutoFit/>
          </a:bodyPr>
          <a:lstStyle/>
          <a:p>
            <a:pPr algn="ctr"/>
            <a:r>
              <a:rPr sz="2000" b="1">
                <a:solidFill>
                  <a:srgbClr val="FFFFFF"/>
                </a:solidFill>
                <a:latin typeface="Calibri"/>
              </a:rPr>
              <a:t>benign English · 80.0%</a:t>
            </a:r>
          </a:p>
        </p:txBody>
      </p:sp>
      <p:sp>
        <p:nvSpPr>
          <p:cNvPr id="17" name="TextBox 16"/>
          <p:cNvSpPr txBox="1"/>
          <p:nvPr/>
        </p:nvSpPr>
        <p:spPr>
          <a:xfrm>
            <a:off x="8138159" y="3154680"/>
            <a:ext cx="3520440" cy="411480"/>
          </a:xfrm>
          <a:prstGeom prst="rect">
            <a:avLst/>
          </a:prstGeom>
          <a:noFill/>
        </p:spPr>
        <p:txBody>
          <a:bodyPr wrap="square" anchor="t">
            <a:spAutoFit/>
          </a:bodyPr>
          <a:lstStyle/>
          <a:p>
            <a:pPr algn="ctr"/>
            <a:r>
              <a:rPr sz="1800" b="0">
                <a:solidFill>
                  <a:srgbClr val="B4C0D2"/>
                </a:solidFill>
                <a:latin typeface="Calibri"/>
              </a:rPr>
              <a:t>95% CI 62.7–90.5</a:t>
            </a:r>
          </a:p>
        </p:txBody>
      </p:sp>
      <p:sp>
        <p:nvSpPr>
          <p:cNvPr id="18" name="Rounded Rectangle 17"/>
          <p:cNvSpPr/>
          <p:nvPr/>
        </p:nvSpPr>
        <p:spPr>
          <a:xfrm>
            <a:off x="548640" y="3913632"/>
            <a:ext cx="11109960" cy="566928"/>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0B1B33"/>
                </a:solidFill>
                <a:latin typeface="Calibri"/>
              </a:rPr>
              <a:t>0 wrong payments  ·  0 data leaks  ·  0 executions without confirmation</a:t>
            </a:r>
          </a:p>
        </p:txBody>
      </p:sp>
      <p:sp>
        <p:nvSpPr>
          <p:cNvPr id="19" name="Rounded Rectangle 18"/>
          <p:cNvSpPr/>
          <p:nvPr/>
        </p:nvSpPr>
        <p:spPr>
          <a:xfrm>
            <a:off x="548640" y="4617720"/>
            <a:ext cx="6263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4645152"/>
            <a:ext cx="6080760" cy="1645920"/>
          </a:xfrm>
          <a:prstGeom prst="rect">
            <a:avLst/>
          </a:prstGeom>
          <a:noFill/>
        </p:spPr>
        <p:txBody>
          <a:bodyPr wrap="square" anchor="t">
            <a:spAutoFit/>
          </a:bodyPr>
          <a:lstStyle/>
          <a:p>
            <a:pPr algn="l"/>
            <a:r>
              <a:rPr sz="1800" b="1">
                <a:solidFill>
                  <a:srgbClr val="2DD4BF"/>
                </a:solidFill>
                <a:latin typeface="Calibri"/>
              </a:rPr>
              <a:t>Caveats</a:t>
            </a:r>
          </a:p>
          <a:p>
            <a:pPr algn="l"/>
            <a:r>
              <a:rPr sz="1800" b="0">
                <a:solidFill>
                  <a:srgbClr val="FFFFFF"/>
                </a:solidFill>
                <a:latin typeface="Calibri"/>
              </a:rPr>
              <a:t>9 attacks stopped only by "not understood"</a:t>
            </a:r>
          </a:p>
          <a:p>
            <a:pPr algn="l"/>
            <a:r>
              <a:rPr sz="1800" b="0">
                <a:solidFill>
                  <a:srgbClr val="FFFFFF"/>
                </a:solidFill>
                <a:latin typeface="Calibri"/>
              </a:rPr>
              <a:t>Claude parser not evaluated (rules parser only)</a:t>
            </a:r>
          </a:p>
          <a:p>
            <a:pPr algn="l"/>
            <a:r>
              <a:rPr sz="1800" b="0">
                <a:solidFill>
                  <a:srgbClr val="FFFFFF"/>
                </a:solidFill>
                <a:latin typeface="Calibri"/>
              </a:rPr>
              <a:t>The 1 miss: homoglyph sanctions bypass, now fixed</a:t>
            </a:r>
          </a:p>
        </p:txBody>
      </p:sp>
      <p:sp>
        <p:nvSpPr>
          <p:cNvPr id="21" name="Rounded Rectangle 20"/>
          <p:cNvSpPr/>
          <p:nvPr/>
        </p:nvSpPr>
        <p:spPr>
          <a:xfrm>
            <a:off x="6949440" y="4617720"/>
            <a:ext cx="470916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059168" y="4645152"/>
            <a:ext cx="4526280" cy="1645920"/>
          </a:xfrm>
          <a:prstGeom prst="rect">
            <a:avLst/>
          </a:prstGeom>
          <a:noFill/>
        </p:spPr>
        <p:txBody>
          <a:bodyPr wrap="square" anchor="t">
            <a:spAutoFit/>
          </a:bodyPr>
          <a:lstStyle/>
          <a:p>
            <a:pPr algn="l"/>
            <a:r>
              <a:rPr sz="1800" b="1">
                <a:solidFill>
                  <a:srgbClr val="2DD4BF"/>
                </a:solidFill>
                <a:latin typeface="Calibri"/>
              </a:rPr>
              <a:t>Development (not blind)</a:t>
            </a:r>
          </a:p>
          <a:p>
            <a:pPr algn="l"/>
            <a:r>
              <a:rPr sz="1800" b="0">
                <a:solidFill>
                  <a:srgbClr val="FFFFFF"/>
                </a:solidFill>
                <a:latin typeface="Calibri"/>
              </a:rPr>
              <a:t>69/69 attacks · 29/29 benign</a:t>
            </a:r>
          </a:p>
          <a:p>
            <a:pPr algn="l"/>
            <a:r>
              <a:rPr sz="1800" b="0">
                <a:solidFill>
                  <a:srgbClr val="FFFFFF"/>
                </a:solidFill>
                <a:latin typeface="Calibri"/>
              </a:rPr>
              <a:t>20/20 scripted missions, JSONL logs</a:t>
            </a:r>
          </a:p>
          <a:p>
            <a:pPr algn="l"/>
            <a:r>
              <a:rPr sz="1800" b="0">
                <a:solidFill>
                  <a:srgbClr val="FFFFFF"/>
                </a:solidFill>
                <a:latin typeface="Calibri"/>
              </a:rPr>
              <a:t>621 tests pass (+8 documented xfail)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Honest limitations and future work</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12</a:t>
            </a:r>
          </a:p>
        </p:txBody>
      </p:sp>
      <p:sp>
        <p:nvSpPr>
          <p:cNvPr id="5" name="Rounded Rectangle 4"/>
          <p:cNvSpPr/>
          <p:nvPr/>
        </p:nvSpPr>
        <p:spPr>
          <a:xfrm>
            <a:off x="548640" y="1280160"/>
            <a:ext cx="5440680"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Limitations today</a:t>
            </a:r>
          </a:p>
        </p:txBody>
      </p:sp>
      <p:sp>
        <p:nvSpPr>
          <p:cNvPr id="6" name="Rounded Rectangle 5"/>
          <p:cNvSpPr/>
          <p:nvPr/>
        </p:nvSpPr>
        <p:spPr>
          <a:xfrm>
            <a:off x="54864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Sandbox only: simulated ledger, FX, SMS code</a:t>
            </a:r>
          </a:p>
          <a:p>
            <a:pPr algn="l">
              <a:spcAft>
                <a:spcPts val="1400"/>
              </a:spcAft>
            </a:pPr>
            <a:r>
              <a:rPr sz="2000" b="0">
                <a:solidFill>
                  <a:srgbClr val="FFFFFF"/>
                </a:solidFill>
                <a:latin typeface="Calibri"/>
              </a:rPr>
              <a:t>Rules parser: 24/30 benign EN, 0/5 non-EN</a:t>
            </a:r>
          </a:p>
          <a:p>
            <a:pPr algn="l">
              <a:spcAft>
                <a:spcPts val="1400"/>
              </a:spcAft>
            </a:pPr>
            <a:r>
              <a:rPr sz="2000" b="0">
                <a:solidFill>
                  <a:srgbClr val="FFFFFF"/>
                </a:solidFill>
                <a:latin typeface="Calibri"/>
              </a:rPr>
              <a:t>Claude parser exists, not yet evaluated</a:t>
            </a:r>
          </a:p>
          <a:p>
            <a:pPr algn="l">
              <a:spcAft>
                <a:spcPts val="1400"/>
              </a:spcAft>
            </a:pPr>
            <a:r>
              <a:rPr sz="2000" b="0">
                <a:solidFill>
                  <a:srgbClr val="FFFFFF"/>
                </a:solidFill>
                <a:latin typeface="Calibri"/>
              </a:rPr>
              <a:t>Content guard is rule-based (advisory)</a:t>
            </a:r>
          </a:p>
          <a:p>
            <a:pPr algn="l">
              <a:spcAft>
                <a:spcPts val="1400"/>
              </a:spcAft>
            </a:pPr>
            <a:r>
              <a:rPr sz="2000" b="0">
                <a:solidFill>
                  <a:srgbClr val="FFFFFF"/>
                </a:solidFill>
                <a:latin typeface="Calibri"/>
              </a:rPr>
              <a:t>One persona, USD/EUR only, demo signing key</a:t>
            </a:r>
          </a:p>
        </p:txBody>
      </p:sp>
      <p:sp>
        <p:nvSpPr>
          <p:cNvPr id="7" name="Rounded Rectangle 6"/>
          <p:cNvSpPr/>
          <p:nvPr/>
        </p:nvSpPr>
        <p:spPr>
          <a:xfrm>
            <a:off x="6217920" y="1280160"/>
            <a:ext cx="544068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Future work (NOT implemented)</a:t>
            </a:r>
          </a:p>
        </p:txBody>
      </p:sp>
      <p:sp>
        <p:nvSpPr>
          <p:cNvPr id="8" name="Rounded Rectangle 7"/>
          <p:cNvSpPr/>
          <p:nvPr/>
        </p:nvSpPr>
        <p:spPr>
          <a:xfrm>
            <a:off x="621792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Same blind protocol on the Claude parser</a:t>
            </a:r>
          </a:p>
          <a:p>
            <a:pPr algn="l">
              <a:spcAft>
                <a:spcPts val="1400"/>
              </a:spcAft>
            </a:pPr>
            <a:r>
              <a:rPr sz="2000" b="0">
                <a:solidFill>
                  <a:srgbClr val="FFFFFF"/>
                </a:solidFill>
                <a:latin typeface="Calibri"/>
              </a:rPr>
              <a:t>Federated risk scoring across institutions</a:t>
            </a:r>
          </a:p>
          <a:p>
            <a:pPr algn="l">
              <a:spcAft>
                <a:spcPts val="1400"/>
              </a:spcAft>
            </a:pPr>
            <a:r>
              <a:rPr sz="2000" b="0">
                <a:solidFill>
                  <a:srgbClr val="FFFFFF"/>
                </a:solidFill>
                <a:latin typeface="Calibri"/>
              </a:rPr>
              <a:t>Receipt anchors on a public chain</a:t>
            </a:r>
          </a:p>
          <a:p>
            <a:pPr algn="l">
              <a:spcAft>
                <a:spcPts val="1400"/>
              </a:spcAft>
            </a:pPr>
            <a:r>
              <a:rPr sz="2000" b="0">
                <a:solidFill>
                  <a:srgbClr val="FFFFFF"/>
                </a:solidFill>
                <a:latin typeface="Calibri"/>
              </a:rPr>
              <a:t>Open-banking connector (PSD2)</a:t>
            </a:r>
          </a:p>
          <a:p>
            <a:pPr algn="l">
              <a:spcAft>
                <a:spcPts val="1400"/>
              </a:spcAft>
            </a:pPr>
            <a:r>
              <a:rPr sz="2000" b="0">
                <a:solidFill>
                  <a:srgbClr val="FFFFFF"/>
                </a:solidFill>
                <a:latin typeface="Calibri"/>
              </a:rPr>
              <a:t>Full Unicode confusables; usability study</a:t>
            </a:r>
          </a:p>
        </p:txBody>
      </p:sp>
      <p:sp>
        <p:nvSpPr>
          <p:cNvPr id="9" name="Rounded Rectangle 8"/>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We claim a safe architecture, measured blind. We do </a:t>
            </a:r>
            <a:r>
              <a:rPr sz="2000" b="1">
                <a:solidFill>
                  <a:srgbClr val="2DD4BF"/>
                </a:solidFill>
                <a:latin typeface="Calibri"/>
              </a:rPr>
              <a:t>not</a:t>
            </a:r>
            <a:r>
              <a:rPr sz="2000" b="1">
                <a:solidFill>
                  <a:srgbClr val="FFFFFF"/>
                </a:solidFill>
                <a:latin typeface="Calibri"/>
              </a:rPr>
              <a:t> claim production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Mapped to the judging criteria</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13</a:t>
            </a:r>
          </a:p>
        </p:txBody>
      </p:sp>
      <p:sp>
        <p:nvSpPr>
          <p:cNvPr id="5" name="Rounded Rectangle 4"/>
          <p:cNvSpPr/>
          <p:nvPr/>
        </p:nvSpPr>
        <p:spPr>
          <a:xfrm>
            <a:off x="548640"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40%</a:t>
            </a:r>
          </a:p>
        </p:txBody>
      </p:sp>
      <p:sp>
        <p:nvSpPr>
          <p:cNvPr id="6" name="Rounded Rectangle 5"/>
          <p:cNvSpPr/>
          <p:nvPr/>
        </p:nvSpPr>
        <p:spPr>
          <a:xfrm>
            <a:off x="548640"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Task completion</a:t>
            </a:r>
          </a:p>
        </p:txBody>
      </p:sp>
      <p:sp>
        <p:nvSpPr>
          <p:cNvPr id="7" name="Rounded Rectangle 6"/>
          <p:cNvSpPr/>
          <p:nvPr/>
        </p:nvSpPr>
        <p:spPr>
          <a:xfrm>
            <a:off x="548640"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pPr>
            <a:r>
              <a:rPr sz="2000" b="0">
                <a:solidFill>
                  <a:srgbClr val="FFFFFF"/>
                </a:solidFill>
                <a:latin typeface="Calibri"/>
              </a:rPr>
              <a:t>One sentence → 3-step plan</a:t>
            </a:r>
          </a:p>
          <a:p>
            <a:pPr algn="ctr">
              <a:spcAft>
                <a:spcPts val="1200"/>
              </a:spcAft>
            </a:pPr>
            <a:r>
              <a:rPr sz="2000" b="0">
                <a:solidFill>
                  <a:srgbClr val="FFFFFF"/>
                </a:solidFill>
                <a:latin typeface="Calibri"/>
              </a:rPr>
              <a:t>20/20 scripted missions</a:t>
            </a:r>
          </a:p>
          <a:p>
            <a:pPr algn="ctr">
              <a:spcAft>
                <a:spcPts val="1200"/>
              </a:spcAft>
            </a:pPr>
            <a:r>
              <a:rPr sz="2000" b="0">
                <a:solidFill>
                  <a:srgbClr val="FFFFFF"/>
                </a:solidFill>
                <a:latin typeface="Calibri"/>
              </a:rPr>
              <a:t>24/30 blind benign (80.0%)</a:t>
            </a:r>
          </a:p>
        </p:txBody>
      </p:sp>
      <p:sp>
        <p:nvSpPr>
          <p:cNvPr id="8" name="Rounded Rectangle 7"/>
          <p:cNvSpPr/>
          <p:nvPr/>
        </p:nvSpPr>
        <p:spPr>
          <a:xfrm>
            <a:off x="4315968"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9" name="Rounded Rectangle 8"/>
          <p:cNvSpPr/>
          <p:nvPr/>
        </p:nvSpPr>
        <p:spPr>
          <a:xfrm>
            <a:off x="4315968"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Security &amp; compliance</a:t>
            </a:r>
          </a:p>
        </p:txBody>
      </p:sp>
      <p:sp>
        <p:nvSpPr>
          <p:cNvPr id="10" name="Rounded Rectangle 9"/>
          <p:cNvSpPr/>
          <p:nvPr/>
        </p:nvSpPr>
        <p:spPr>
          <a:xfrm>
            <a:off x="4315968"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pPr>
            <a:r>
              <a:rPr sz="2000" b="0">
                <a:solidFill>
                  <a:srgbClr val="FFFFFF"/>
                </a:solidFill>
                <a:latin typeface="Calibri"/>
              </a:rPr>
              <a:t>69/70 blind attacks blocked</a:t>
            </a:r>
          </a:p>
          <a:p>
            <a:pPr algn="ctr">
              <a:spcAft>
                <a:spcPts val="1200"/>
              </a:spcAft>
            </a:pPr>
            <a:r>
              <a:rPr sz="2000" b="0">
                <a:solidFill>
                  <a:srgbClr val="FFFFFF"/>
                </a:solidFill>
                <a:latin typeface="Calibri"/>
              </a:rPr>
              <a:t>0 wrong payments, 0 leaks</a:t>
            </a:r>
          </a:p>
          <a:p>
            <a:pPr algn="ctr">
              <a:spcAft>
                <a:spcPts val="1200"/>
              </a:spcAft>
            </a:pPr>
            <a:r>
              <a:rPr sz="2000" b="0">
                <a:solidFill>
                  <a:srgbClr val="FFFFFF"/>
                </a:solidFill>
                <a:latin typeface="Calibri"/>
              </a:rPr>
              <a:t>Structuring + sanctions rules</a:t>
            </a:r>
          </a:p>
        </p:txBody>
      </p:sp>
      <p:sp>
        <p:nvSpPr>
          <p:cNvPr id="11" name="Rounded Rectangle 10"/>
          <p:cNvSpPr/>
          <p:nvPr/>
        </p:nvSpPr>
        <p:spPr>
          <a:xfrm>
            <a:off x="8083296"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12" name="Rounded Rectangle 11"/>
          <p:cNvSpPr/>
          <p:nvPr/>
        </p:nvSpPr>
        <p:spPr>
          <a:xfrm>
            <a:off x="8083296"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Innovation &amp; interaction</a:t>
            </a:r>
          </a:p>
        </p:txBody>
      </p:sp>
      <p:sp>
        <p:nvSpPr>
          <p:cNvPr id="13" name="Rounded Rectangle 12"/>
          <p:cNvSpPr/>
          <p:nvPr/>
        </p:nvSpPr>
        <p:spPr>
          <a:xfrm>
            <a:off x="8083296"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pPr>
            <a:r>
              <a:rPr sz="2000" b="0">
                <a:solidFill>
                  <a:srgbClr val="FFFFFF"/>
                </a:solidFill>
                <a:latin typeface="Calibri"/>
              </a:rPr>
              <a:t>Clarify, correct, cancel, ask</a:t>
            </a:r>
          </a:p>
          <a:p>
            <a:pPr algn="ctr">
              <a:spcAft>
                <a:spcPts val="1200"/>
              </a:spcAft>
            </a:pPr>
            <a:r>
              <a:rPr sz="2000" b="0">
                <a:solidFill>
                  <a:srgbClr val="FFFFFF"/>
                </a:solidFill>
                <a:latin typeface="Calibri"/>
              </a:rPr>
              <a:t>Simulation-only answers</a:t>
            </a:r>
          </a:p>
          <a:p>
            <a:pPr algn="ctr">
              <a:spcAft>
                <a:spcPts val="1200"/>
              </a:spcAft>
            </a:pPr>
            <a:r>
              <a:rPr sz="2000" b="0">
                <a:solidFill>
                  <a:srgbClr val="FFFFFF"/>
                </a:solidFill>
                <a:latin typeface="Calibri"/>
              </a:rPr>
              <a:t>Signed anchor · attack tab</a:t>
            </a:r>
          </a:p>
        </p:txBody>
      </p:sp>
      <p:sp>
        <p:nvSpPr>
          <p:cNvPr id="14" name="Rounded Rectangle 13"/>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Evidence in the repo: heldout_v2_results.md · task_completion.md · security_results.md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Trust is a property of the architecture</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14</a:t>
            </a:r>
          </a:p>
        </p:txBody>
      </p:sp>
      <p:sp>
        <p:nvSpPr>
          <p:cNvPr id="5" name="TextBox 4"/>
          <p:cNvSpPr txBox="1"/>
          <p:nvPr/>
        </p:nvSpPr>
        <p:spPr>
          <a:xfrm>
            <a:off x="548640" y="1234440"/>
            <a:ext cx="11155680" cy="1188720"/>
          </a:xfrm>
          <a:prstGeom prst="rect">
            <a:avLst/>
          </a:prstGeom>
          <a:noFill/>
        </p:spPr>
        <p:txBody>
          <a:bodyPr wrap="square" anchor="t">
            <a:spAutoFit/>
          </a:bodyPr>
          <a:lstStyle/>
          <a:p>
            <a:pPr algn="l"/>
            <a:r>
              <a:rPr sz="3000" b="1">
                <a:solidFill>
                  <a:srgbClr val="FFFFFF"/>
                </a:solidFill>
                <a:latin typeface="Calibri"/>
              </a:rPr>
              <a:t>The LLM </a:t>
            </a:r>
            <a:r>
              <a:rPr sz="3000" b="1">
                <a:solidFill>
                  <a:srgbClr val="2DD4BF"/>
                </a:solidFill>
                <a:latin typeface="Calibri"/>
              </a:rPr>
              <a:t>proposes</a:t>
            </a:r>
            <a:r>
              <a:rPr sz="3000" b="1">
                <a:solidFill>
                  <a:srgbClr val="FFFFFF"/>
                </a:solidFill>
                <a:latin typeface="Calibri"/>
              </a:rPr>
              <a:t>. A deterministic policy </a:t>
            </a:r>
            <a:r>
              <a:rPr sz="3000" b="1">
                <a:solidFill>
                  <a:srgbClr val="2DD4BF"/>
                </a:solidFill>
                <a:latin typeface="Calibri"/>
              </a:rPr>
              <a:t>authorises</a:t>
            </a:r>
            <a:r>
              <a:rPr sz="3000" b="1">
                <a:solidFill>
                  <a:srgbClr val="FFFFFF"/>
                </a:solidFill>
                <a:latin typeface="Calibri"/>
              </a:rPr>
              <a:t>.</a:t>
            </a:r>
          </a:p>
          <a:p>
            <a:pPr algn="l"/>
            <a:r>
              <a:rPr sz="3000" b="1">
                <a:solidFill>
                  <a:srgbClr val="FFFFFF"/>
                </a:solidFill>
                <a:latin typeface="Calibri"/>
              </a:rPr>
              <a:t>A sandbox </a:t>
            </a:r>
            <a:r>
              <a:rPr sz="3000" b="1">
                <a:solidFill>
                  <a:srgbClr val="2DD4BF"/>
                </a:solidFill>
                <a:latin typeface="Calibri"/>
              </a:rPr>
              <a:t>executes</a:t>
            </a:r>
            <a:r>
              <a:rPr sz="3000" b="1">
                <a:solidFill>
                  <a:srgbClr val="FFFFFF"/>
                </a:solidFill>
                <a:latin typeface="Calibri"/>
              </a:rPr>
              <a:t>.</a:t>
            </a:r>
          </a:p>
        </p:txBody>
      </p:sp>
      <p:sp>
        <p:nvSpPr>
          <p:cNvPr id="6" name="Rounded Rectangle 5"/>
          <p:cNvSpPr/>
          <p:nvPr/>
        </p:nvSpPr>
        <p:spPr>
          <a:xfrm>
            <a:off x="548640" y="2697480"/>
            <a:ext cx="11109960" cy="26060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2788920"/>
            <a:ext cx="10698480" cy="457200"/>
          </a:xfrm>
          <a:prstGeom prst="rect">
            <a:avLst/>
          </a:prstGeom>
          <a:noFill/>
        </p:spPr>
        <p:txBody>
          <a:bodyPr wrap="square" anchor="t">
            <a:spAutoFit/>
          </a:bodyPr>
          <a:lstStyle/>
          <a:p>
            <a:pPr algn="l"/>
            <a:r>
              <a:rPr sz="2000" b="1">
                <a:solidFill>
                  <a:srgbClr val="2DD4BF"/>
                </a:solidFill>
                <a:latin typeface="Calibri"/>
              </a:rPr>
              <a:t>Reproduce offline (no API key)</a:t>
            </a:r>
          </a:p>
        </p:txBody>
      </p:sp>
      <p:sp>
        <p:nvSpPr>
          <p:cNvPr id="8" name="TextBox 7"/>
          <p:cNvSpPr txBox="1"/>
          <p:nvPr/>
        </p:nvSpPr>
        <p:spPr>
          <a:xfrm>
            <a:off x="777240" y="3291840"/>
            <a:ext cx="10698480" cy="2240280"/>
          </a:xfrm>
          <a:prstGeom prst="rect">
            <a:avLst/>
          </a:prstGeom>
          <a:noFill/>
        </p:spPr>
        <p:txBody>
          <a:bodyPr wrap="square" anchor="t">
            <a:spAutoFit/>
          </a:bodyPr>
          <a:lstStyle/>
          <a:p>
            <a:pPr algn="l"/>
            <a:r>
              <a:rPr sz="2000" b="0">
                <a:solidFill>
                  <a:srgbClr val="FFFFFF"/>
                </a:solidFill>
                <a:latin typeface="Consolas"/>
              </a:rPr>
              <a:t>pip install -r requirements.txt</a:t>
            </a:r>
          </a:p>
          <a:p>
            <a:pPr algn="l"/>
            <a:r>
              <a:rPr sz="2000" b="0">
                <a:solidFill>
                  <a:srgbClr val="FFFFFF"/>
                </a:solidFill>
                <a:latin typeface="Consolas"/>
              </a:rPr>
              <a:t>python -m pytest tests -q</a:t>
            </a:r>
          </a:p>
          <a:p>
            <a:pPr algn="l"/>
            <a:r>
              <a:rPr sz="2000" b="0">
                <a:solidFill>
                  <a:srgbClr val="FFFFFF"/>
                </a:solidFill>
                <a:latin typeface="Consolas"/>
              </a:rPr>
              <a:t>python -m pytest tests/heldout_v2 -q    # blind v2 set</a:t>
            </a:r>
          </a:p>
          <a:p>
            <a:pPr algn="l"/>
            <a:r>
              <a:rPr sz="2000" b="0">
                <a:solidFill>
                  <a:srgbClr val="FFFFFF"/>
                </a:solidFill>
                <a:latin typeface="Consolas"/>
              </a:rPr>
              <a:t>python scripts/run_scenarios.py         # missions + JSONL logs</a:t>
            </a:r>
          </a:p>
          <a:p>
            <a:pPr algn="l"/>
            <a:r>
              <a:rPr sz="2000" b="0">
                <a:solidFill>
                  <a:srgbClr val="FFFFFF"/>
                </a:solidFill>
                <a:latin typeface="Consolas"/>
              </a:rPr>
              <a:t>python -m streamlit run ui/app.py       # live demo, OTP 246810</a:t>
            </a:r>
          </a:p>
        </p:txBody>
      </p:sp>
      <p:sp>
        <p:nvSpPr>
          <p:cNvPr id="9" name="TextBox 8"/>
          <p:cNvSpPr txBox="1"/>
          <p:nvPr/>
        </p:nvSpPr>
        <p:spPr>
          <a:xfrm>
            <a:off x="548640" y="5623560"/>
            <a:ext cx="11155680" cy="457200"/>
          </a:xfrm>
          <a:prstGeom prst="rect">
            <a:avLst/>
          </a:prstGeom>
          <a:noFill/>
        </p:spPr>
        <p:txBody>
          <a:bodyPr wrap="square" anchor="t">
            <a:spAutoFit/>
          </a:bodyPr>
          <a:lstStyle/>
          <a:p>
            <a:pPr algn="l"/>
            <a:r>
              <a:rPr sz="1800" b="0">
                <a:solidFill>
                  <a:srgbClr val="B4C0D2"/>
                </a:solidFill>
                <a:latin typeface="Calibri"/>
              </a:rPr>
              <a:t>BorderlessGuard  ·  Topic C, International AI Track  ·  Thank you.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